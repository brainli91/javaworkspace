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5" r:id="rId6"/>
    <p:sldId id="261" r:id="rId7"/>
    <p:sldId id="263" r:id="rId8"/>
    <p:sldId id="264" r:id="rId9"/>
    <p:sldId id="269" r:id="rId10"/>
    <p:sldId id="266" r:id="rId11"/>
    <p:sldId id="267" r:id="rId12"/>
    <p:sldId id="260" r:id="rId13"/>
    <p:sldId id="268" r:id="rId14"/>
  </p:sldIdLst>
  <p:sldSz cx="9144000" cy="6858000" type="screen4x3"/>
  <p:notesSz cx="6858000" cy="9144000"/>
  <p:defaultTextStyle>
    <a:defPPr>
      <a:defRPr lang="zh-C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4704" autoAdjust="0"/>
  </p:normalViewPr>
  <p:slideViewPr>
    <p:cSldViewPr snapToGrid="0" snapToObjects="1">
      <p:cViewPr>
        <p:scale>
          <a:sx n="86" d="100"/>
          <a:sy n="86" d="100"/>
        </p:scale>
        <p:origin x="-1688" y="6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interSettings" Target="printerSettings/printerSettings1.bin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E1BFF7-33F0-4C46-BEFD-A09CFD138704}" type="datetimeFigureOut">
              <a:rPr kumimoji="1" lang="zh-CN" altLang="en-US" smtClean="0"/>
              <a:t>06/06/16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CA" smtClean="0"/>
              <a:t>单击此处编辑母版文本样式</a:t>
            </a:r>
          </a:p>
          <a:p>
            <a:pPr lvl="1"/>
            <a:r>
              <a:rPr kumimoji="1" lang="zh-CN" altLang="en-CA" smtClean="0"/>
              <a:t>二级</a:t>
            </a:r>
          </a:p>
          <a:p>
            <a:pPr lvl="2"/>
            <a:r>
              <a:rPr kumimoji="1" lang="zh-CN" altLang="en-CA" smtClean="0"/>
              <a:t>三级</a:t>
            </a:r>
          </a:p>
          <a:p>
            <a:pPr lvl="3"/>
            <a:r>
              <a:rPr kumimoji="1" lang="zh-CN" altLang="en-CA" smtClean="0"/>
              <a:t>四级</a:t>
            </a:r>
          </a:p>
          <a:p>
            <a:pPr lvl="4"/>
            <a:r>
              <a:rPr kumimoji="1" lang="zh-CN" altLang="en-CA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FFF088-6F3D-7440-976F-4D937F2C62A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99580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FFF088-6F3D-7440-976F-4D937F2C62AD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32208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FFF088-6F3D-7440-976F-4D937F2C62AD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973946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CN" dirty="0" smtClean="0"/>
              <a:t>A design pattern deals with interactions between individual software components</a:t>
            </a:r>
          </a:p>
          <a:p>
            <a:pPr>
              <a:buFontTx/>
              <a:buNone/>
            </a:pPr>
            <a:endParaRPr lang="en-US" altLang="zh-CN" dirty="0" smtClean="0"/>
          </a:p>
          <a:p>
            <a:pPr>
              <a:buFontTx/>
              <a:buNone/>
            </a:pPr>
            <a:r>
              <a:rPr lang="en-US" altLang="zh-CN" dirty="0" smtClean="0"/>
              <a:t>They are recurring solutions to common problems of design!</a:t>
            </a:r>
          </a:p>
          <a:p>
            <a:endParaRPr lang="en-US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Strategy pattern, a class behavior or its algorithm can be changed at run time. This type of design pattern comes under behavior pattern.</a:t>
            </a: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Strategy pattern, we create objects which represent various strategies and a context object whose behavior varies as per its strategy object. The strategy object changes the executing algorithm of the context object.</a:t>
            </a: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FFF088-6F3D-7440-976F-4D937F2C62AD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833209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FFF088-6F3D-7440-976F-4D937F2C62AD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74894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FFF088-6F3D-7440-976F-4D937F2C62AD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192708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FFF088-6F3D-7440-976F-4D937F2C62AD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875818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smtClean="0">
                <a:latin typeface="Arial" charset="0"/>
              </a:rPr>
              <a:t>Need SIX classes to handle both functions!!!</a:t>
            </a:r>
            <a:endParaRPr lang="lt-LT" altLang="zh-CN" sz="1200" dirty="0" smtClean="0">
              <a:latin typeface="Arial" charset="0"/>
            </a:endParaRP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FFF088-6F3D-7440-976F-4D937F2C62AD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175513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FFF088-6F3D-7440-976F-4D937F2C62AD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04974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FFF088-6F3D-7440-976F-4D937F2C62AD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299687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FFF088-6F3D-7440-976F-4D937F2C62AD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973069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 smtClean="0"/>
              <a:t>Benefits</a:t>
            </a:r>
          </a:p>
          <a:p>
            <a:r>
              <a:rPr lang="en-US" altLang="zh-CN" dirty="0" smtClean="0"/>
              <a:t>Eliminates conditional statements </a:t>
            </a:r>
          </a:p>
          <a:p>
            <a:pPr lvl="1"/>
            <a:r>
              <a:rPr lang="en-US" altLang="zh-CN" dirty="0" smtClean="0"/>
              <a:t>Can be more efficient than case statements</a:t>
            </a:r>
          </a:p>
          <a:p>
            <a:pPr lvl="1">
              <a:buFontTx/>
              <a:buNone/>
            </a:pPr>
            <a:endParaRPr lang="en-US" altLang="zh-CN" dirty="0" smtClean="0"/>
          </a:p>
          <a:p>
            <a:r>
              <a:rPr lang="en-US" altLang="zh-CN" dirty="0" smtClean="0"/>
              <a:t>Choice of implementation</a:t>
            </a:r>
          </a:p>
          <a:p>
            <a:pPr lvl="1"/>
            <a:r>
              <a:rPr lang="en-US" altLang="zh-CN" dirty="0" smtClean="0"/>
              <a:t>Client can choose among different implementations with different space and time trade-offs</a:t>
            </a:r>
          </a:p>
          <a:p>
            <a:r>
              <a:rPr lang="en-US" altLang="zh-CN" dirty="0" smtClean="0"/>
              <a:t>Families of related algorithms</a:t>
            </a:r>
          </a:p>
          <a:p>
            <a:r>
              <a:rPr lang="en-US" altLang="zh-CN" dirty="0" smtClean="0"/>
              <a:t>Alternative to </a:t>
            </a:r>
            <a:r>
              <a:rPr lang="en-US" altLang="zh-CN" dirty="0" err="1" smtClean="0"/>
              <a:t>subclassing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This lets you vary the algorithm dynamically, which makes it easier to change and extend</a:t>
            </a:r>
          </a:p>
          <a:p>
            <a:pPr lvl="1"/>
            <a:r>
              <a:rPr lang="en-US" altLang="zh-CN" dirty="0" smtClean="0"/>
              <a:t>You also avoid complex inheritance structure</a:t>
            </a:r>
          </a:p>
          <a:p>
            <a:endParaRPr kumimoji="1" lang="en-CA" altLang="zh-CN" dirty="0" smtClean="0"/>
          </a:p>
          <a:p>
            <a:r>
              <a:rPr kumimoji="1" lang="en-CA" altLang="zh-CN" b="1" dirty="0" smtClean="0"/>
              <a:t>Cons</a:t>
            </a:r>
          </a:p>
          <a:p>
            <a:r>
              <a:rPr lang="en-US" altLang="zh-CN" dirty="0" smtClean="0"/>
              <a:t>Clients must be aware of different strategies</a:t>
            </a:r>
          </a:p>
          <a:p>
            <a:pPr lvl="1"/>
            <a:r>
              <a:rPr lang="en-US" altLang="zh-CN" dirty="0" smtClean="0"/>
              <a:t>Clients must know how strategies differ so it can select the appropriate one</a:t>
            </a:r>
          </a:p>
          <a:p>
            <a:r>
              <a:rPr lang="en-US" altLang="zh-CN" dirty="0" smtClean="0"/>
              <a:t>Communication overhead between strategy and context</a:t>
            </a:r>
          </a:p>
          <a:p>
            <a:pPr lvl="1"/>
            <a:r>
              <a:rPr lang="en-US" altLang="zh-CN" dirty="0" smtClean="0"/>
              <a:t>Sometimes the context will create and initialize parameters that are never used</a:t>
            </a:r>
          </a:p>
          <a:p>
            <a:r>
              <a:rPr lang="en-US" altLang="zh-CN" dirty="0" smtClean="0"/>
              <a:t>Increased number of objects</a:t>
            </a:r>
          </a:p>
          <a:p>
            <a:pPr lvl="1"/>
            <a:r>
              <a:rPr lang="lt-LT" altLang="zh-CN" dirty="0" smtClean="0"/>
              <a:t>if the algorithm differences are simple, the extra classes add extra complexity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endParaRPr kumimoji="1" lang="zh-CN" altLang="en-US" b="1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FFF088-6F3D-7440-976F-4D937F2C62AD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090171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5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Shape 1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55" name="Shape 155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</p:spPr>
        <p:txBody>
          <a:bodyPr lIns="91425" tIns="45700" rIns="91425" bIns="45700" anchor="b" anchorCtr="0">
            <a:noAutofit/>
          </a:bodyPr>
          <a:lstStyle/>
          <a:p>
            <a:pPr lv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FE717-2813-044F-80B1-413C91CEC08F}" type="datetimeFigureOut">
              <a:rPr kumimoji="1" lang="zh-CN" altLang="en-US" smtClean="0"/>
              <a:t>06/06/16</a:t>
            </a:fld>
            <a:endParaRPr kumimoji="1" lang="zh-CN" alt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0B7BE89E-BF91-C140-A9A4-E250E2516707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FE717-2813-044F-80B1-413C91CEC08F}" type="datetimeFigureOut">
              <a:rPr kumimoji="1" lang="zh-CN" altLang="en-US" smtClean="0"/>
              <a:t>06/06/16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0B7BE89E-BF91-C140-A9A4-E250E2516707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FE717-2813-044F-80B1-413C91CEC08F}" type="datetimeFigureOut">
              <a:rPr kumimoji="1" lang="zh-CN" altLang="en-US" smtClean="0"/>
              <a:t>06/06/16</a:t>
            </a:fld>
            <a:endParaRPr kumimoji="1" lang="zh-CN" alt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0B7BE89E-BF91-C140-A9A4-E250E2516707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CA7FE717-2813-044F-80B1-413C91CEC08F}" type="datetimeFigureOut">
              <a:rPr kumimoji="1" lang="zh-CN" altLang="en-US" smtClean="0"/>
              <a:t>06/06/16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BE89E-BF91-C140-A9A4-E250E2516707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FE717-2813-044F-80B1-413C91CEC08F}" type="datetimeFigureOut">
              <a:rPr kumimoji="1" lang="zh-CN" altLang="en-US" smtClean="0"/>
              <a:t>06/06/16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0B7BE89E-BF91-C140-A9A4-E250E2516707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FE717-2813-044F-80B1-413C91CEC08F}" type="datetimeFigureOut">
              <a:rPr kumimoji="1" lang="zh-CN" altLang="en-US" smtClean="0"/>
              <a:t>06/06/16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0B7BE89E-BF91-C140-A9A4-E250E251670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FE717-2813-044F-80B1-413C91CEC08F}" type="datetimeFigureOut">
              <a:rPr kumimoji="1" lang="zh-CN" altLang="en-US" smtClean="0"/>
              <a:t>06/06/16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B7BE89E-BF91-C140-A9A4-E250E251670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0B7BE89E-BF91-C140-A9A4-E250E2516707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FE717-2813-044F-80B1-413C91CEC08F}" type="datetimeFigureOut">
              <a:rPr kumimoji="1" lang="zh-CN" altLang="en-US" smtClean="0"/>
              <a:t>06/06/16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kumimoji="1"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0B7BE89E-BF91-C140-A9A4-E250E2516707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CA7FE717-2813-044F-80B1-413C91CEC08F}" type="datetimeFigureOut">
              <a:rPr kumimoji="1" lang="zh-CN" altLang="en-US" smtClean="0"/>
              <a:t>06/06/16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FE717-2813-044F-80B1-413C91CEC08F}" type="datetimeFigureOut">
              <a:rPr kumimoji="1" lang="zh-CN" altLang="en-US" smtClean="0"/>
              <a:t>06/06/16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BE89E-BF91-C140-A9A4-E250E251670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0B7BE89E-BF91-C140-A9A4-E250E2516707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FE717-2813-044F-80B1-413C91CEC08F}" type="datetimeFigureOut">
              <a:rPr kumimoji="1" lang="zh-CN" altLang="en-US" smtClean="0"/>
              <a:t>06/06/16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CA7FE717-2813-044F-80B1-413C91CEC08F}" type="datetimeFigureOut">
              <a:rPr kumimoji="1" lang="zh-CN" altLang="en-US" smtClean="0"/>
              <a:t>06/06/16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0B7BE89E-BF91-C140-A9A4-E250E2516707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www.tutorialspoint.com/design_pattern/strategy_pattern.ht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en-CA" altLang="zh-CN" dirty="0" smtClean="0"/>
              <a:t>	</a:t>
            </a:r>
          </a:p>
          <a:p>
            <a:endParaRPr kumimoji="1" lang="en-CA" altLang="zh-CN" dirty="0"/>
          </a:p>
          <a:p>
            <a:endParaRPr kumimoji="1" lang="en-CA" altLang="zh-CN" dirty="0" smtClean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 smtClean="0"/>
              <a:t>Strategy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Design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Pattern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32738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Outline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en-US" altLang="zh-CN" dirty="0" smtClean="0"/>
              <a:t>Introduction</a:t>
            </a:r>
          </a:p>
          <a:p>
            <a:r>
              <a:rPr kumimoji="1" lang="en-US" altLang="zh-CN" dirty="0" smtClean="0"/>
              <a:t>When to apply</a:t>
            </a:r>
          </a:p>
          <a:p>
            <a:r>
              <a:rPr kumimoji="1" lang="en-US" altLang="zh-CN" dirty="0" smtClean="0"/>
              <a:t>Real life example</a:t>
            </a:r>
          </a:p>
          <a:p>
            <a:r>
              <a:rPr kumimoji="1" lang="en-US" altLang="zh-CN" dirty="0" smtClean="0"/>
              <a:t>Checklist</a:t>
            </a:r>
          </a:p>
          <a:p>
            <a:r>
              <a:rPr kumimoji="1" lang="en-US" altLang="zh-CN" dirty="0" smtClean="0"/>
              <a:t>Basic Structure</a:t>
            </a:r>
          </a:p>
          <a:p>
            <a:r>
              <a:rPr kumimoji="1" lang="en-US" altLang="zh-CN" dirty="0" smtClean="0"/>
              <a:t>Pros and Cons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170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What</a:t>
            </a:r>
            <a:r>
              <a:rPr lang="zh-CN" altLang="en-US" dirty="0" smtClean="0">
                <a:solidFill>
                  <a:schemeClr val="tx1"/>
                </a:solidFill>
              </a:rPr>
              <a:t> </a:t>
            </a:r>
            <a:r>
              <a:rPr lang="en-CA" altLang="zh-CN" dirty="0" smtClean="0">
                <a:solidFill>
                  <a:schemeClr val="tx1"/>
                </a:solidFill>
              </a:rPr>
              <a:t>is</a:t>
            </a:r>
            <a:r>
              <a:rPr lang="zh-CN" altLang="en-US" dirty="0" smtClean="0">
                <a:solidFill>
                  <a:schemeClr val="tx1"/>
                </a:solidFill>
              </a:rPr>
              <a:t> </a:t>
            </a:r>
            <a:r>
              <a:rPr lang="en-CA" altLang="zh-CN" dirty="0" smtClean="0">
                <a:solidFill>
                  <a:schemeClr val="tx1"/>
                </a:solidFill>
              </a:rPr>
              <a:t>Strategy</a:t>
            </a:r>
            <a:r>
              <a:rPr lang="zh-CN" altLang="en-US" dirty="0" smtClean="0">
                <a:solidFill>
                  <a:schemeClr val="tx1"/>
                </a:solidFill>
              </a:rPr>
              <a:t> </a:t>
            </a:r>
            <a:r>
              <a:rPr lang="en-CA" altLang="zh-CN" dirty="0" smtClean="0">
                <a:solidFill>
                  <a:schemeClr val="tx1"/>
                </a:solidFill>
              </a:rPr>
              <a:t>Pattern</a:t>
            </a:r>
            <a:r>
              <a:rPr lang="zh-CN" altLang="en-US" dirty="0" smtClean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?</a:t>
            </a:r>
            <a:r>
              <a:rPr lang="zh-CN" altLang="en-US" dirty="0" smtClean="0">
                <a:solidFill>
                  <a:schemeClr val="tx1"/>
                </a:solidFill>
              </a:rPr>
              <a:t>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 smtClean="0"/>
              <a:t>Behavioral </a:t>
            </a:r>
            <a:r>
              <a:rPr lang="en-US" altLang="zh-CN" dirty="0"/>
              <a:t>design </a:t>
            </a:r>
            <a:r>
              <a:rPr lang="en-US" altLang="zh-CN" dirty="0" smtClean="0"/>
              <a:t>pattern</a:t>
            </a:r>
          </a:p>
          <a:p>
            <a:endParaRPr kumimoji="1" lang="en-CA" altLang="zh-CN" dirty="0" smtClean="0"/>
          </a:p>
          <a:p>
            <a:r>
              <a:rPr lang="en-US" altLang="zh-CN" dirty="0"/>
              <a:t>Define a family of </a:t>
            </a:r>
            <a:r>
              <a:rPr lang="en-US" altLang="zh-CN" dirty="0" smtClean="0"/>
              <a:t>algorithms</a:t>
            </a:r>
            <a:endParaRPr lang="en-US" altLang="zh-CN" dirty="0"/>
          </a:p>
          <a:p>
            <a:r>
              <a:rPr lang="en-US" altLang="zh-CN" dirty="0"/>
              <a:t>Encapsulate each </a:t>
            </a:r>
            <a:r>
              <a:rPr lang="en-US" altLang="zh-CN" dirty="0" smtClean="0"/>
              <a:t>one</a:t>
            </a:r>
            <a:endParaRPr lang="en-US" altLang="zh-CN" dirty="0"/>
          </a:p>
          <a:p>
            <a:r>
              <a:rPr lang="en-US" altLang="zh-CN" dirty="0"/>
              <a:t>Make them </a:t>
            </a:r>
            <a:r>
              <a:rPr lang="en-US" altLang="zh-CN" dirty="0" smtClean="0"/>
              <a:t>interchangeable</a:t>
            </a:r>
          </a:p>
          <a:p>
            <a:r>
              <a:rPr lang="en-US" altLang="zh-CN" dirty="0" smtClean="0"/>
              <a:t>Strategy</a:t>
            </a:r>
            <a:r>
              <a:rPr lang="zh-CN" altLang="en-US" dirty="0" smtClean="0"/>
              <a:t> </a:t>
            </a:r>
            <a:r>
              <a:rPr lang="en-CA" altLang="zh-CN" dirty="0" smtClean="0"/>
              <a:t>lets</a:t>
            </a:r>
            <a:r>
              <a:rPr lang="zh-CN" altLang="en-US" dirty="0" smtClean="0"/>
              <a:t> </a:t>
            </a:r>
            <a:r>
              <a:rPr lang="en-CA" altLang="zh-CN" dirty="0" smtClean="0"/>
              <a:t>the</a:t>
            </a:r>
            <a:r>
              <a:rPr lang="zh-CN" altLang="en-US" dirty="0" smtClean="0"/>
              <a:t> </a:t>
            </a:r>
            <a:r>
              <a:rPr lang="en-CA" altLang="zh-CN" dirty="0" smtClean="0"/>
              <a:t>algorithm</a:t>
            </a:r>
            <a:r>
              <a:rPr lang="zh-CN" altLang="en-US" dirty="0" smtClean="0"/>
              <a:t> </a:t>
            </a:r>
            <a:r>
              <a:rPr lang="en-CA" altLang="zh-CN" dirty="0" smtClean="0"/>
              <a:t>vary</a:t>
            </a:r>
            <a:r>
              <a:rPr lang="zh-CN" altLang="en-US" dirty="0" smtClean="0"/>
              <a:t> </a:t>
            </a:r>
            <a:r>
              <a:rPr lang="en-CA" altLang="zh-CN" dirty="0" smtClean="0"/>
              <a:t>independently</a:t>
            </a:r>
            <a:r>
              <a:rPr lang="zh-CN" altLang="en-US" dirty="0" smtClean="0"/>
              <a:t> </a:t>
            </a:r>
            <a:r>
              <a:rPr lang="en-CA" altLang="zh-CN" dirty="0" smtClean="0"/>
              <a:t>from</a:t>
            </a:r>
            <a:r>
              <a:rPr lang="zh-CN" altLang="en-US" dirty="0" smtClean="0"/>
              <a:t> </a:t>
            </a:r>
            <a:r>
              <a:rPr lang="en-CA" altLang="zh-CN" dirty="0" smtClean="0"/>
              <a:t>clients</a:t>
            </a:r>
            <a:r>
              <a:rPr lang="zh-CN" altLang="en-US" dirty="0" smtClean="0"/>
              <a:t> </a:t>
            </a:r>
            <a:r>
              <a:rPr lang="en-CA" altLang="zh-CN" dirty="0" smtClean="0"/>
              <a:t>that</a:t>
            </a:r>
            <a:r>
              <a:rPr lang="zh-CN" altLang="en-US" dirty="0" smtClean="0"/>
              <a:t> </a:t>
            </a:r>
            <a:r>
              <a:rPr lang="en-CA" altLang="zh-CN" dirty="0" smtClean="0"/>
              <a:t>use</a:t>
            </a:r>
            <a:r>
              <a:rPr lang="zh-CN" altLang="en-US" dirty="0" smtClean="0"/>
              <a:t> </a:t>
            </a:r>
            <a:r>
              <a:rPr lang="en-CA" altLang="zh-CN" dirty="0" smtClean="0"/>
              <a:t>it</a:t>
            </a:r>
            <a:endParaRPr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9797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CA" altLang="zh-CN" dirty="0" smtClean="0"/>
              <a:t>When to apply it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2205887"/>
            <a:ext cx="8229600" cy="4525963"/>
          </a:xfrm>
        </p:spPr>
        <p:txBody>
          <a:bodyPr/>
          <a:lstStyle/>
          <a:p>
            <a:r>
              <a:rPr lang="en-US" altLang="zh-CN" dirty="0"/>
              <a:t>You have code with a lot of algorithms</a:t>
            </a:r>
          </a:p>
          <a:p>
            <a:r>
              <a:rPr lang="en-US" altLang="zh-CN" dirty="0"/>
              <a:t>You want to use these algorithms at different times</a:t>
            </a:r>
          </a:p>
          <a:p>
            <a:r>
              <a:rPr lang="en-US" altLang="zh-CN" dirty="0"/>
              <a:t>You have algorithm(s) that use data the client should not know about</a:t>
            </a:r>
          </a:p>
        </p:txBody>
      </p:sp>
    </p:spTree>
    <p:extLst>
      <p:ext uri="{BB962C8B-B14F-4D97-AF65-F5344CB8AC3E}">
        <p14:creationId xmlns:p14="http://schemas.microsoft.com/office/powerpoint/2010/main" val="1794398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Real life example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Modes of transportation to an </a:t>
            </a:r>
            <a:r>
              <a:rPr lang="en-CA" dirty="0" smtClean="0"/>
              <a:t>airport.</a:t>
            </a:r>
          </a:p>
          <a:p>
            <a:r>
              <a:rPr lang="en-CA" dirty="0" smtClean="0"/>
              <a:t> </a:t>
            </a:r>
            <a:r>
              <a:rPr lang="en-CA" dirty="0"/>
              <a:t>Several options </a:t>
            </a:r>
            <a:r>
              <a:rPr lang="en-CA" dirty="0" smtClean="0"/>
              <a:t>- driving </a:t>
            </a:r>
            <a:r>
              <a:rPr lang="en-CA" dirty="0"/>
              <a:t>one's own car, taking a taxi, an airport shuttle, a city bus, or a limousine service. </a:t>
            </a:r>
            <a:endParaRPr lang="en-CA" dirty="0" smtClean="0"/>
          </a:p>
          <a:p>
            <a:r>
              <a:rPr lang="en-CA" dirty="0" smtClean="0"/>
              <a:t>For </a:t>
            </a:r>
            <a:r>
              <a:rPr lang="en-CA" dirty="0"/>
              <a:t>some airports, subways and helicopters are also </a:t>
            </a:r>
            <a:r>
              <a:rPr lang="en-CA" dirty="0" smtClean="0"/>
              <a:t>available.</a:t>
            </a:r>
          </a:p>
          <a:p>
            <a:r>
              <a:rPr lang="en-CA" dirty="0" smtClean="0"/>
              <a:t>Traveler’s main action is to reach the airport.</a:t>
            </a:r>
          </a:p>
          <a:p>
            <a:r>
              <a:rPr lang="en-CA" dirty="0" smtClean="0"/>
              <a:t>Any </a:t>
            </a:r>
            <a:r>
              <a:rPr lang="en-CA" dirty="0"/>
              <a:t>of these </a:t>
            </a:r>
            <a:r>
              <a:rPr lang="en-CA" dirty="0" smtClean="0"/>
              <a:t>modes can </a:t>
            </a:r>
            <a:r>
              <a:rPr lang="en-CA" dirty="0"/>
              <a:t>be used </a:t>
            </a:r>
            <a:r>
              <a:rPr lang="en-CA" dirty="0" smtClean="0"/>
              <a:t>interchangeably.</a:t>
            </a:r>
          </a:p>
          <a:p>
            <a:r>
              <a:rPr lang="en-CA" dirty="0" smtClean="0"/>
              <a:t>The </a:t>
            </a:r>
            <a:r>
              <a:rPr lang="en-CA" dirty="0"/>
              <a:t>traveler must chose the Strategy based </a:t>
            </a:r>
            <a:r>
              <a:rPr lang="en-CA"/>
              <a:t>on </a:t>
            </a:r>
            <a:r>
              <a:rPr lang="en-CA" smtClean="0"/>
              <a:t>trade-offs </a:t>
            </a:r>
            <a:r>
              <a:rPr lang="en-CA" dirty="0"/>
              <a:t>between cost, convenience, and time.</a:t>
            </a:r>
          </a:p>
        </p:txBody>
      </p:sp>
    </p:spTree>
    <p:extLst>
      <p:ext uri="{BB962C8B-B14F-4D97-AF65-F5344CB8AC3E}">
        <p14:creationId xmlns:p14="http://schemas.microsoft.com/office/powerpoint/2010/main" val="970821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kumimoji="1" lang="en-CA" altLang="zh-CN" dirty="0" err="1" smtClean="0"/>
              <a:t>Subclassing</a:t>
            </a:r>
            <a:endParaRPr kumimoji="1" lang="zh-CN" altLang="en-US" dirty="0"/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1041400" y="2219325"/>
            <a:ext cx="7200900" cy="2967038"/>
            <a:chOff x="639" y="1146"/>
            <a:chExt cx="4536" cy="1869"/>
          </a:xfrm>
        </p:grpSpPr>
        <p:sp>
          <p:nvSpPr>
            <p:cNvPr id="5" name="Line 5"/>
            <p:cNvSpPr>
              <a:spLocks noChangeShapeType="1"/>
            </p:cNvSpPr>
            <p:nvPr/>
          </p:nvSpPr>
          <p:spPr bwMode="auto">
            <a:xfrm>
              <a:off x="2910" y="1843"/>
              <a:ext cx="0" cy="46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AutoShape 6"/>
            <p:cNvSpPr>
              <a:spLocks noChangeArrowheads="1"/>
            </p:cNvSpPr>
            <p:nvPr/>
          </p:nvSpPr>
          <p:spPr bwMode="auto">
            <a:xfrm>
              <a:off x="2787" y="1961"/>
              <a:ext cx="224" cy="176"/>
            </a:xfrm>
            <a:prstGeom prst="triangle">
              <a:avLst>
                <a:gd name="adj" fmla="val 49995"/>
              </a:avLst>
            </a:prstGeom>
            <a:solidFill>
              <a:schemeClr val="bg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7" name="Group 7"/>
            <p:cNvGrpSpPr>
              <a:grpSpLocks/>
            </p:cNvGrpSpPr>
            <p:nvPr/>
          </p:nvGrpSpPr>
          <p:grpSpPr bwMode="auto">
            <a:xfrm>
              <a:off x="2271" y="1146"/>
              <a:ext cx="1294" cy="688"/>
              <a:chOff x="2271" y="1146"/>
              <a:chExt cx="1294" cy="688"/>
            </a:xfrm>
          </p:grpSpPr>
          <p:sp>
            <p:nvSpPr>
              <p:cNvPr id="23" name="Rectangle 8"/>
              <p:cNvSpPr>
                <a:spLocks noChangeArrowheads="1"/>
              </p:cNvSpPr>
              <p:nvPr/>
            </p:nvSpPr>
            <p:spPr bwMode="auto">
              <a:xfrm>
                <a:off x="2275" y="1146"/>
                <a:ext cx="1266" cy="688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 anchorCtr="1"/>
              <a:lstStyle/>
              <a:p>
                <a:pPr algn="ctr" eaLnBrk="0" hangingPunct="0"/>
                <a:r>
                  <a:rPr lang="lt-LT" sz="2000" i="1">
                    <a:latin typeface="Arial" charset="0"/>
                  </a:rPr>
                  <a:t>Class</a:t>
                </a:r>
              </a:p>
            </p:txBody>
          </p:sp>
          <p:sp>
            <p:nvSpPr>
              <p:cNvPr id="24" name="Line 9"/>
              <p:cNvSpPr>
                <a:spLocks noChangeShapeType="1"/>
              </p:cNvSpPr>
              <p:nvPr/>
            </p:nvSpPr>
            <p:spPr bwMode="auto">
              <a:xfrm>
                <a:off x="2271" y="1382"/>
                <a:ext cx="127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Rectangle 10"/>
              <p:cNvSpPr>
                <a:spLocks noChangeArrowheads="1"/>
              </p:cNvSpPr>
              <p:nvPr/>
            </p:nvSpPr>
            <p:spPr bwMode="auto">
              <a:xfrm>
                <a:off x="2288" y="1430"/>
                <a:ext cx="1277" cy="3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1600" i="1" dirty="0">
                    <a:latin typeface="Arial" charset="0"/>
                  </a:rPr>
                  <a:t>function</a:t>
                </a:r>
                <a:r>
                  <a:rPr lang="lt-LT" sz="1600" i="1" dirty="0">
                    <a:latin typeface="Arial" charset="0"/>
                  </a:rPr>
                  <a:t>X()</a:t>
                </a:r>
                <a:br>
                  <a:rPr lang="lt-LT" sz="1600" i="1" dirty="0">
                    <a:latin typeface="Arial" charset="0"/>
                  </a:rPr>
                </a:br>
                <a:endParaRPr lang="lt-LT" sz="1600" i="1" dirty="0">
                  <a:latin typeface="Arial" charset="0"/>
                </a:endParaRPr>
              </a:p>
            </p:txBody>
          </p:sp>
        </p:grpSp>
        <p:sp>
          <p:nvSpPr>
            <p:cNvPr id="8" name="Line 11"/>
            <p:cNvSpPr>
              <a:spLocks noChangeShapeType="1"/>
            </p:cNvSpPr>
            <p:nvPr/>
          </p:nvSpPr>
          <p:spPr bwMode="auto">
            <a:xfrm>
              <a:off x="1269" y="2141"/>
              <a:ext cx="33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12"/>
            <p:cNvSpPr>
              <a:spLocks noChangeShapeType="1"/>
            </p:cNvSpPr>
            <p:nvPr/>
          </p:nvSpPr>
          <p:spPr bwMode="auto">
            <a:xfrm>
              <a:off x="1278" y="2141"/>
              <a:ext cx="0" cy="1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3"/>
            <p:cNvSpPr>
              <a:spLocks noChangeShapeType="1"/>
            </p:cNvSpPr>
            <p:nvPr/>
          </p:nvSpPr>
          <p:spPr bwMode="auto">
            <a:xfrm>
              <a:off x="4630" y="2132"/>
              <a:ext cx="0" cy="17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" name="Group 14"/>
            <p:cNvGrpSpPr>
              <a:grpSpLocks/>
            </p:cNvGrpSpPr>
            <p:nvPr/>
          </p:nvGrpSpPr>
          <p:grpSpPr bwMode="auto">
            <a:xfrm>
              <a:off x="639" y="2327"/>
              <a:ext cx="1294" cy="688"/>
              <a:chOff x="639" y="2327"/>
              <a:chExt cx="1294" cy="688"/>
            </a:xfrm>
          </p:grpSpPr>
          <p:sp>
            <p:nvSpPr>
              <p:cNvPr id="20" name="Rectangle 15"/>
              <p:cNvSpPr>
                <a:spLocks noChangeArrowheads="1"/>
              </p:cNvSpPr>
              <p:nvPr/>
            </p:nvSpPr>
            <p:spPr bwMode="auto">
              <a:xfrm>
                <a:off x="643" y="2327"/>
                <a:ext cx="1266" cy="688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 anchorCtr="1"/>
              <a:lstStyle/>
              <a:p>
                <a:pPr algn="ctr" eaLnBrk="0" hangingPunct="0"/>
                <a:r>
                  <a:rPr lang="lt-LT" sz="2000" b="1">
                    <a:latin typeface="Arial" charset="0"/>
                  </a:rPr>
                  <a:t>SubClass1</a:t>
                </a:r>
              </a:p>
            </p:txBody>
          </p:sp>
          <p:sp>
            <p:nvSpPr>
              <p:cNvPr id="21" name="Line 16"/>
              <p:cNvSpPr>
                <a:spLocks noChangeShapeType="1"/>
              </p:cNvSpPr>
              <p:nvPr/>
            </p:nvSpPr>
            <p:spPr bwMode="auto">
              <a:xfrm>
                <a:off x="639" y="2563"/>
                <a:ext cx="127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Rectangle 17"/>
              <p:cNvSpPr>
                <a:spLocks noChangeArrowheads="1"/>
              </p:cNvSpPr>
              <p:nvPr/>
            </p:nvSpPr>
            <p:spPr bwMode="auto">
              <a:xfrm>
                <a:off x="656" y="2611"/>
                <a:ext cx="1277" cy="3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1600" b="1">
                    <a:latin typeface="Arial" charset="0"/>
                  </a:rPr>
                  <a:t>function</a:t>
                </a:r>
                <a:r>
                  <a:rPr lang="lt-LT" sz="1600" b="1">
                    <a:latin typeface="Arial" charset="0"/>
                  </a:rPr>
                  <a:t>X()</a:t>
                </a:r>
                <a:r>
                  <a:rPr lang="lt-LT" sz="1600" i="1">
                    <a:latin typeface="Arial" charset="0"/>
                  </a:rPr>
                  <a:t/>
                </a:r>
                <a:br>
                  <a:rPr lang="lt-LT" sz="1600" i="1">
                    <a:latin typeface="Arial" charset="0"/>
                  </a:rPr>
                </a:br>
                <a:endParaRPr lang="lt-LT" sz="1600" i="1">
                  <a:latin typeface="Arial" charset="0"/>
                </a:endParaRPr>
              </a:p>
            </p:txBody>
          </p:sp>
        </p:grpSp>
        <p:grpSp>
          <p:nvGrpSpPr>
            <p:cNvPr id="12" name="Group 18"/>
            <p:cNvGrpSpPr>
              <a:grpSpLocks/>
            </p:cNvGrpSpPr>
            <p:nvPr/>
          </p:nvGrpSpPr>
          <p:grpSpPr bwMode="auto">
            <a:xfrm>
              <a:off x="2260" y="2323"/>
              <a:ext cx="1294" cy="688"/>
              <a:chOff x="2260" y="2323"/>
              <a:chExt cx="1294" cy="688"/>
            </a:xfrm>
          </p:grpSpPr>
          <p:sp>
            <p:nvSpPr>
              <p:cNvPr id="17" name="Rectangle 19"/>
              <p:cNvSpPr>
                <a:spLocks noChangeArrowheads="1"/>
              </p:cNvSpPr>
              <p:nvPr/>
            </p:nvSpPr>
            <p:spPr bwMode="auto">
              <a:xfrm>
                <a:off x="2264" y="2323"/>
                <a:ext cx="1266" cy="688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 anchorCtr="1"/>
              <a:lstStyle/>
              <a:p>
                <a:pPr algn="ctr" eaLnBrk="0" hangingPunct="0"/>
                <a:r>
                  <a:rPr lang="lt-LT" sz="2000" b="1">
                    <a:latin typeface="Arial" charset="0"/>
                  </a:rPr>
                  <a:t>SubClass2</a:t>
                </a:r>
              </a:p>
            </p:txBody>
          </p:sp>
          <p:sp>
            <p:nvSpPr>
              <p:cNvPr id="18" name="Line 20"/>
              <p:cNvSpPr>
                <a:spLocks noChangeShapeType="1"/>
              </p:cNvSpPr>
              <p:nvPr/>
            </p:nvSpPr>
            <p:spPr bwMode="auto">
              <a:xfrm>
                <a:off x="2260" y="2559"/>
                <a:ext cx="127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Rectangle 21"/>
              <p:cNvSpPr>
                <a:spLocks noChangeArrowheads="1"/>
              </p:cNvSpPr>
              <p:nvPr/>
            </p:nvSpPr>
            <p:spPr bwMode="auto">
              <a:xfrm>
                <a:off x="2277" y="2607"/>
                <a:ext cx="1277" cy="3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1600" b="1">
                    <a:latin typeface="Arial" charset="0"/>
                  </a:rPr>
                  <a:t>function</a:t>
                </a:r>
                <a:r>
                  <a:rPr lang="lt-LT" sz="1600" b="1">
                    <a:latin typeface="Arial" charset="0"/>
                  </a:rPr>
                  <a:t>X()</a:t>
                </a:r>
                <a:r>
                  <a:rPr lang="lt-LT" sz="1600" i="1">
                    <a:latin typeface="Arial" charset="0"/>
                  </a:rPr>
                  <a:t/>
                </a:r>
                <a:br>
                  <a:rPr lang="lt-LT" sz="1600" i="1">
                    <a:latin typeface="Arial" charset="0"/>
                  </a:rPr>
                </a:br>
                <a:endParaRPr lang="lt-LT" sz="1600" i="1">
                  <a:latin typeface="Arial" charset="0"/>
                </a:endParaRPr>
              </a:p>
            </p:txBody>
          </p:sp>
        </p:grpSp>
        <p:grpSp>
          <p:nvGrpSpPr>
            <p:cNvPr id="13" name="Group 22"/>
            <p:cNvGrpSpPr>
              <a:grpSpLocks/>
            </p:cNvGrpSpPr>
            <p:nvPr/>
          </p:nvGrpSpPr>
          <p:grpSpPr bwMode="auto">
            <a:xfrm>
              <a:off x="3881" y="2310"/>
              <a:ext cx="1294" cy="688"/>
              <a:chOff x="3881" y="2310"/>
              <a:chExt cx="1294" cy="688"/>
            </a:xfrm>
          </p:grpSpPr>
          <p:sp>
            <p:nvSpPr>
              <p:cNvPr id="14" name="Rectangle 23"/>
              <p:cNvSpPr>
                <a:spLocks noChangeArrowheads="1"/>
              </p:cNvSpPr>
              <p:nvPr/>
            </p:nvSpPr>
            <p:spPr bwMode="auto">
              <a:xfrm>
                <a:off x="3885" y="2310"/>
                <a:ext cx="1266" cy="688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 anchorCtr="1"/>
              <a:lstStyle/>
              <a:p>
                <a:pPr algn="ctr" eaLnBrk="0" hangingPunct="0"/>
                <a:r>
                  <a:rPr lang="lt-LT" sz="2000" b="1">
                    <a:latin typeface="Arial" charset="0"/>
                  </a:rPr>
                  <a:t>SubClass3</a:t>
                </a:r>
              </a:p>
            </p:txBody>
          </p:sp>
          <p:sp>
            <p:nvSpPr>
              <p:cNvPr id="15" name="Line 24"/>
              <p:cNvSpPr>
                <a:spLocks noChangeShapeType="1"/>
              </p:cNvSpPr>
              <p:nvPr/>
            </p:nvSpPr>
            <p:spPr bwMode="auto">
              <a:xfrm>
                <a:off x="3881" y="2546"/>
                <a:ext cx="127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Rectangle 25"/>
              <p:cNvSpPr>
                <a:spLocks noChangeArrowheads="1"/>
              </p:cNvSpPr>
              <p:nvPr/>
            </p:nvSpPr>
            <p:spPr bwMode="auto">
              <a:xfrm>
                <a:off x="3898" y="2594"/>
                <a:ext cx="1277" cy="3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1600" b="1">
                    <a:latin typeface="Arial" charset="0"/>
                  </a:rPr>
                  <a:t>function</a:t>
                </a:r>
                <a:r>
                  <a:rPr lang="lt-LT" sz="1600" b="1">
                    <a:latin typeface="Arial" charset="0"/>
                  </a:rPr>
                  <a:t>X()</a:t>
                </a:r>
                <a:r>
                  <a:rPr lang="lt-LT" sz="1600" i="1">
                    <a:latin typeface="Arial" charset="0"/>
                  </a:rPr>
                  <a:t/>
                </a:r>
                <a:br>
                  <a:rPr lang="lt-LT" sz="1600" i="1">
                    <a:latin typeface="Arial" charset="0"/>
                  </a:rPr>
                </a:br>
                <a:endParaRPr lang="lt-LT" sz="1600" i="1">
                  <a:latin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05669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Add</a:t>
            </a:r>
            <a:r>
              <a:rPr lang="zh-CN" altLang="en-US" dirty="0" smtClean="0"/>
              <a:t> </a:t>
            </a:r>
            <a:r>
              <a:rPr lang="en-CA" altLang="zh-CN" dirty="0" smtClean="0"/>
              <a:t>a</a:t>
            </a:r>
            <a:r>
              <a:rPr lang="zh-CN" altLang="en-US" dirty="0" smtClean="0"/>
              <a:t> </a:t>
            </a:r>
            <a:r>
              <a:rPr lang="en-CA" altLang="zh-CN" dirty="0" smtClean="0"/>
              <a:t>function</a:t>
            </a:r>
            <a:endParaRPr lang="en-US" altLang="zh-CN" dirty="0"/>
          </a:p>
        </p:txBody>
      </p:sp>
      <p:sp>
        <p:nvSpPr>
          <p:cNvPr id="19459" name="Line 3"/>
          <p:cNvSpPr>
            <a:spLocks noChangeShapeType="1"/>
          </p:cNvSpPr>
          <p:nvPr/>
        </p:nvSpPr>
        <p:spPr bwMode="auto">
          <a:xfrm flipV="1">
            <a:off x="3200400" y="5029200"/>
            <a:ext cx="281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0" name="Line 4"/>
          <p:cNvSpPr>
            <a:spLocks noChangeShapeType="1"/>
          </p:cNvSpPr>
          <p:nvPr/>
        </p:nvSpPr>
        <p:spPr bwMode="auto">
          <a:xfrm>
            <a:off x="4619625" y="2711450"/>
            <a:ext cx="0" cy="736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1" name="AutoShape 5"/>
          <p:cNvSpPr>
            <a:spLocks noChangeArrowheads="1"/>
          </p:cNvSpPr>
          <p:nvPr/>
        </p:nvSpPr>
        <p:spPr bwMode="auto">
          <a:xfrm>
            <a:off x="4424363" y="2884488"/>
            <a:ext cx="355600" cy="279400"/>
          </a:xfrm>
          <a:prstGeom prst="triangle">
            <a:avLst>
              <a:gd name="adj" fmla="val 49995"/>
            </a:avLst>
          </a:prstGeom>
          <a:solidFill>
            <a:schemeClr val="bg2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9462" name="Group 6"/>
          <p:cNvGrpSpPr>
            <a:grpSpLocks/>
          </p:cNvGrpSpPr>
          <p:nvPr/>
        </p:nvGrpSpPr>
        <p:grpSpPr bwMode="auto">
          <a:xfrm>
            <a:off x="3605213" y="1604963"/>
            <a:ext cx="2054225" cy="1092200"/>
            <a:chOff x="2271" y="1011"/>
            <a:chExt cx="1294" cy="688"/>
          </a:xfrm>
        </p:grpSpPr>
        <p:sp>
          <p:nvSpPr>
            <p:cNvPr id="19463" name="Rectangle 7"/>
            <p:cNvSpPr>
              <a:spLocks noChangeArrowheads="1"/>
            </p:cNvSpPr>
            <p:nvPr/>
          </p:nvSpPr>
          <p:spPr bwMode="auto">
            <a:xfrm>
              <a:off x="2275" y="1011"/>
              <a:ext cx="1266" cy="688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 anchorCtr="1"/>
            <a:lstStyle/>
            <a:p>
              <a:pPr algn="ctr" eaLnBrk="0" hangingPunct="0"/>
              <a:r>
                <a:rPr lang="lt-LT" sz="2000" i="1">
                  <a:latin typeface="Arial" charset="0"/>
                </a:rPr>
                <a:t>Class</a:t>
              </a:r>
            </a:p>
          </p:txBody>
        </p:sp>
        <p:sp>
          <p:nvSpPr>
            <p:cNvPr id="19464" name="Line 8"/>
            <p:cNvSpPr>
              <a:spLocks noChangeShapeType="1"/>
            </p:cNvSpPr>
            <p:nvPr/>
          </p:nvSpPr>
          <p:spPr bwMode="auto">
            <a:xfrm>
              <a:off x="2271" y="1247"/>
              <a:ext cx="127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5" name="Rectangle 9"/>
            <p:cNvSpPr>
              <a:spLocks noChangeArrowheads="1"/>
            </p:cNvSpPr>
            <p:nvPr/>
          </p:nvSpPr>
          <p:spPr bwMode="auto">
            <a:xfrm>
              <a:off x="2288" y="1295"/>
              <a:ext cx="1277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 i="1" dirty="0">
                  <a:latin typeface="Arial" charset="0"/>
                </a:rPr>
                <a:t>function</a:t>
              </a:r>
              <a:r>
                <a:rPr lang="lt-LT" sz="1600" i="1" dirty="0">
                  <a:latin typeface="Arial" charset="0"/>
                </a:rPr>
                <a:t>X()</a:t>
              </a:r>
              <a:br>
                <a:rPr lang="lt-LT" sz="1600" i="1" dirty="0">
                  <a:latin typeface="Arial" charset="0"/>
                </a:rPr>
              </a:br>
              <a:r>
                <a:rPr lang="en-US" altLang="zh-CN" sz="1600" i="1" dirty="0">
                  <a:latin typeface="Arial" charset="0"/>
                </a:rPr>
                <a:t>function</a:t>
              </a:r>
              <a:r>
                <a:rPr lang="lt-LT" sz="1600" i="1" dirty="0">
                  <a:latin typeface="Arial" charset="0"/>
                </a:rPr>
                <a:t>Y()</a:t>
              </a:r>
            </a:p>
          </p:txBody>
        </p:sp>
      </p:grpSp>
      <p:sp>
        <p:nvSpPr>
          <p:cNvPr id="19466" name="Line 10"/>
          <p:cNvSpPr>
            <a:spLocks noChangeShapeType="1"/>
          </p:cNvSpPr>
          <p:nvPr/>
        </p:nvSpPr>
        <p:spPr bwMode="auto">
          <a:xfrm>
            <a:off x="2014538" y="3184525"/>
            <a:ext cx="53292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7" name="Line 11"/>
          <p:cNvSpPr>
            <a:spLocks noChangeShapeType="1"/>
          </p:cNvSpPr>
          <p:nvPr/>
        </p:nvSpPr>
        <p:spPr bwMode="auto">
          <a:xfrm>
            <a:off x="2028825" y="3184525"/>
            <a:ext cx="0" cy="2778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8" name="Line 12"/>
          <p:cNvSpPr>
            <a:spLocks noChangeShapeType="1"/>
          </p:cNvSpPr>
          <p:nvPr/>
        </p:nvSpPr>
        <p:spPr bwMode="auto">
          <a:xfrm>
            <a:off x="7350125" y="3170238"/>
            <a:ext cx="0" cy="2698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9469" name="Group 13"/>
          <p:cNvGrpSpPr>
            <a:grpSpLocks/>
          </p:cNvGrpSpPr>
          <p:nvPr/>
        </p:nvGrpSpPr>
        <p:grpSpPr bwMode="auto">
          <a:xfrm>
            <a:off x="1014413" y="3479800"/>
            <a:ext cx="2054225" cy="1092200"/>
            <a:chOff x="639" y="2192"/>
            <a:chExt cx="1294" cy="688"/>
          </a:xfrm>
        </p:grpSpPr>
        <p:sp>
          <p:nvSpPr>
            <p:cNvPr id="19470" name="Rectangle 14"/>
            <p:cNvSpPr>
              <a:spLocks noChangeArrowheads="1"/>
            </p:cNvSpPr>
            <p:nvPr/>
          </p:nvSpPr>
          <p:spPr bwMode="auto">
            <a:xfrm>
              <a:off x="643" y="2192"/>
              <a:ext cx="1266" cy="688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 anchorCtr="1"/>
            <a:lstStyle/>
            <a:p>
              <a:pPr algn="ctr" eaLnBrk="0" hangingPunct="0"/>
              <a:r>
                <a:rPr lang="lt-LT" sz="2000" i="1" dirty="0">
                  <a:latin typeface="Arial" charset="0"/>
                </a:rPr>
                <a:t>SubClass1</a:t>
              </a:r>
            </a:p>
          </p:txBody>
        </p:sp>
        <p:sp>
          <p:nvSpPr>
            <p:cNvPr id="19471" name="Line 15"/>
            <p:cNvSpPr>
              <a:spLocks noChangeShapeType="1"/>
            </p:cNvSpPr>
            <p:nvPr/>
          </p:nvSpPr>
          <p:spPr bwMode="auto">
            <a:xfrm>
              <a:off x="639" y="2428"/>
              <a:ext cx="127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2" name="Rectangle 16"/>
            <p:cNvSpPr>
              <a:spLocks noChangeArrowheads="1"/>
            </p:cNvSpPr>
            <p:nvPr/>
          </p:nvSpPr>
          <p:spPr bwMode="auto">
            <a:xfrm>
              <a:off x="656" y="2476"/>
              <a:ext cx="1277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 b="1">
                  <a:latin typeface="Arial" charset="0"/>
                </a:rPr>
                <a:t>function</a:t>
              </a:r>
              <a:r>
                <a:rPr lang="lt-LT" sz="1600" b="1">
                  <a:latin typeface="Arial" charset="0"/>
                </a:rPr>
                <a:t>X()</a:t>
              </a:r>
              <a:r>
                <a:rPr lang="lt-LT" sz="1600" i="1">
                  <a:latin typeface="Arial" charset="0"/>
                </a:rPr>
                <a:t/>
              </a:r>
              <a:br>
                <a:rPr lang="lt-LT" sz="1600" i="1">
                  <a:latin typeface="Arial" charset="0"/>
                </a:rPr>
              </a:br>
              <a:r>
                <a:rPr lang="en-US" altLang="zh-CN" sz="1600" i="1">
                  <a:latin typeface="Arial" charset="0"/>
                </a:rPr>
                <a:t>function</a:t>
              </a:r>
              <a:r>
                <a:rPr lang="lt-LT" sz="1600" i="1">
                  <a:latin typeface="Arial" charset="0"/>
                </a:rPr>
                <a:t>Y()</a:t>
              </a:r>
            </a:p>
          </p:txBody>
        </p:sp>
      </p:grpSp>
      <p:grpSp>
        <p:nvGrpSpPr>
          <p:cNvPr id="19473" name="Group 17"/>
          <p:cNvGrpSpPr>
            <a:grpSpLocks/>
          </p:cNvGrpSpPr>
          <p:nvPr/>
        </p:nvGrpSpPr>
        <p:grpSpPr bwMode="auto">
          <a:xfrm>
            <a:off x="3587750" y="3473450"/>
            <a:ext cx="2054225" cy="1092200"/>
            <a:chOff x="2260" y="2188"/>
            <a:chExt cx="1294" cy="688"/>
          </a:xfrm>
        </p:grpSpPr>
        <p:sp>
          <p:nvSpPr>
            <p:cNvPr id="19474" name="Rectangle 18"/>
            <p:cNvSpPr>
              <a:spLocks noChangeArrowheads="1"/>
            </p:cNvSpPr>
            <p:nvPr/>
          </p:nvSpPr>
          <p:spPr bwMode="auto">
            <a:xfrm>
              <a:off x="2264" y="2188"/>
              <a:ext cx="1266" cy="688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 anchorCtr="1"/>
            <a:lstStyle/>
            <a:p>
              <a:pPr algn="ctr" eaLnBrk="0" hangingPunct="0"/>
              <a:r>
                <a:rPr lang="lt-LT" sz="2000" i="1">
                  <a:latin typeface="Arial" charset="0"/>
                </a:rPr>
                <a:t>SubClass2</a:t>
              </a:r>
            </a:p>
          </p:txBody>
        </p:sp>
        <p:sp>
          <p:nvSpPr>
            <p:cNvPr id="19475" name="Line 19"/>
            <p:cNvSpPr>
              <a:spLocks noChangeShapeType="1"/>
            </p:cNvSpPr>
            <p:nvPr/>
          </p:nvSpPr>
          <p:spPr bwMode="auto">
            <a:xfrm>
              <a:off x="2260" y="2424"/>
              <a:ext cx="127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6" name="Rectangle 20"/>
            <p:cNvSpPr>
              <a:spLocks noChangeArrowheads="1"/>
            </p:cNvSpPr>
            <p:nvPr/>
          </p:nvSpPr>
          <p:spPr bwMode="auto">
            <a:xfrm>
              <a:off x="2277" y="2472"/>
              <a:ext cx="1277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 b="1">
                  <a:latin typeface="Arial" charset="0"/>
                </a:rPr>
                <a:t>function</a:t>
              </a:r>
              <a:r>
                <a:rPr lang="lt-LT" sz="1600" b="1">
                  <a:latin typeface="Arial" charset="0"/>
                </a:rPr>
                <a:t>X()</a:t>
              </a:r>
              <a:r>
                <a:rPr lang="lt-LT" sz="1600" i="1">
                  <a:latin typeface="Arial" charset="0"/>
                </a:rPr>
                <a:t/>
              </a:r>
              <a:br>
                <a:rPr lang="lt-LT" sz="1600" i="1">
                  <a:latin typeface="Arial" charset="0"/>
                </a:rPr>
              </a:br>
              <a:r>
                <a:rPr lang="en-US" altLang="zh-CN" sz="1600" i="1">
                  <a:latin typeface="Arial" charset="0"/>
                </a:rPr>
                <a:t>function</a:t>
              </a:r>
              <a:r>
                <a:rPr lang="lt-LT" sz="1600" i="1">
                  <a:latin typeface="Arial" charset="0"/>
                </a:rPr>
                <a:t>Y()</a:t>
              </a:r>
            </a:p>
          </p:txBody>
        </p:sp>
      </p:grpSp>
      <p:grpSp>
        <p:nvGrpSpPr>
          <p:cNvPr id="19477" name="Group 21"/>
          <p:cNvGrpSpPr>
            <a:grpSpLocks/>
          </p:cNvGrpSpPr>
          <p:nvPr/>
        </p:nvGrpSpPr>
        <p:grpSpPr bwMode="auto">
          <a:xfrm>
            <a:off x="6161088" y="3452813"/>
            <a:ext cx="2054225" cy="1092200"/>
            <a:chOff x="3881" y="2175"/>
            <a:chExt cx="1294" cy="688"/>
          </a:xfrm>
        </p:grpSpPr>
        <p:sp>
          <p:nvSpPr>
            <p:cNvPr id="19478" name="Rectangle 22"/>
            <p:cNvSpPr>
              <a:spLocks noChangeArrowheads="1"/>
            </p:cNvSpPr>
            <p:nvPr/>
          </p:nvSpPr>
          <p:spPr bwMode="auto">
            <a:xfrm>
              <a:off x="3885" y="2175"/>
              <a:ext cx="1266" cy="688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 anchorCtr="1"/>
            <a:lstStyle/>
            <a:p>
              <a:pPr algn="ctr" eaLnBrk="0" hangingPunct="0"/>
              <a:r>
                <a:rPr lang="lt-LT" sz="2000" i="1">
                  <a:latin typeface="Arial" charset="0"/>
                </a:rPr>
                <a:t>SubClass3</a:t>
              </a:r>
            </a:p>
          </p:txBody>
        </p:sp>
        <p:sp>
          <p:nvSpPr>
            <p:cNvPr id="19479" name="Line 23"/>
            <p:cNvSpPr>
              <a:spLocks noChangeShapeType="1"/>
            </p:cNvSpPr>
            <p:nvPr/>
          </p:nvSpPr>
          <p:spPr bwMode="auto">
            <a:xfrm>
              <a:off x="3881" y="2411"/>
              <a:ext cx="127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0" name="Rectangle 24"/>
            <p:cNvSpPr>
              <a:spLocks noChangeArrowheads="1"/>
            </p:cNvSpPr>
            <p:nvPr/>
          </p:nvSpPr>
          <p:spPr bwMode="auto">
            <a:xfrm>
              <a:off x="3898" y="2459"/>
              <a:ext cx="1277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 b="1">
                  <a:latin typeface="Arial" charset="0"/>
                </a:rPr>
                <a:t>function</a:t>
              </a:r>
              <a:r>
                <a:rPr lang="lt-LT" sz="1600" b="1">
                  <a:latin typeface="Arial" charset="0"/>
                </a:rPr>
                <a:t>rX()</a:t>
              </a:r>
              <a:br>
                <a:rPr lang="lt-LT" sz="1600" b="1">
                  <a:latin typeface="Arial" charset="0"/>
                </a:rPr>
              </a:br>
              <a:r>
                <a:rPr lang="en-US" altLang="zh-CN" sz="1600" i="1">
                  <a:latin typeface="Arial" charset="0"/>
                </a:rPr>
                <a:t>function</a:t>
              </a:r>
              <a:r>
                <a:rPr lang="lt-LT" sz="1600" i="1">
                  <a:latin typeface="Arial" charset="0"/>
                </a:rPr>
                <a:t>Y()</a:t>
              </a:r>
            </a:p>
          </p:txBody>
        </p:sp>
      </p:grpSp>
      <p:grpSp>
        <p:nvGrpSpPr>
          <p:cNvPr id="19481" name="Group 25"/>
          <p:cNvGrpSpPr>
            <a:grpSpLocks/>
          </p:cNvGrpSpPr>
          <p:nvPr/>
        </p:nvGrpSpPr>
        <p:grpSpPr bwMode="auto">
          <a:xfrm>
            <a:off x="2209800" y="5181600"/>
            <a:ext cx="2054225" cy="1092200"/>
            <a:chOff x="624" y="3260"/>
            <a:chExt cx="1294" cy="688"/>
          </a:xfrm>
        </p:grpSpPr>
        <p:sp>
          <p:nvSpPr>
            <p:cNvPr id="19482" name="Rectangle 26"/>
            <p:cNvSpPr>
              <a:spLocks noChangeArrowheads="1"/>
            </p:cNvSpPr>
            <p:nvPr/>
          </p:nvSpPr>
          <p:spPr bwMode="auto">
            <a:xfrm>
              <a:off x="628" y="3260"/>
              <a:ext cx="1266" cy="688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 anchorCtr="1"/>
            <a:lstStyle/>
            <a:p>
              <a:pPr algn="ctr" eaLnBrk="0" hangingPunct="0"/>
              <a:r>
                <a:rPr lang="lt-LT" sz="2000" b="1">
                  <a:latin typeface="Arial" charset="0"/>
                </a:rPr>
                <a:t>SubClass</a:t>
              </a:r>
              <a:r>
                <a:rPr lang="en-US" altLang="zh-CN" sz="2000" b="1">
                  <a:latin typeface="Arial" charset="0"/>
                </a:rPr>
                <a:t>2</a:t>
              </a:r>
              <a:r>
                <a:rPr lang="lt-LT" sz="2000" b="1">
                  <a:latin typeface="Arial" charset="0"/>
                </a:rPr>
                <a:t>.1</a:t>
              </a:r>
            </a:p>
          </p:txBody>
        </p:sp>
        <p:sp>
          <p:nvSpPr>
            <p:cNvPr id="19483" name="Line 27"/>
            <p:cNvSpPr>
              <a:spLocks noChangeShapeType="1"/>
            </p:cNvSpPr>
            <p:nvPr/>
          </p:nvSpPr>
          <p:spPr bwMode="auto">
            <a:xfrm>
              <a:off x="624" y="3496"/>
              <a:ext cx="127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4" name="Rectangle 28"/>
            <p:cNvSpPr>
              <a:spLocks noChangeArrowheads="1"/>
            </p:cNvSpPr>
            <p:nvPr/>
          </p:nvSpPr>
          <p:spPr bwMode="auto">
            <a:xfrm>
              <a:off x="641" y="3544"/>
              <a:ext cx="1277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lt-LT" sz="1600" b="1">
                  <a:latin typeface="Arial" charset="0"/>
                </a:rPr>
                <a:t>behaviorY()</a:t>
              </a:r>
              <a:r>
                <a:rPr lang="lt-LT" sz="1600" i="1">
                  <a:latin typeface="Arial" charset="0"/>
                </a:rPr>
                <a:t/>
              </a:r>
              <a:br>
                <a:rPr lang="lt-LT" sz="1600" i="1">
                  <a:latin typeface="Arial" charset="0"/>
                </a:rPr>
              </a:br>
              <a:endParaRPr lang="lt-LT" sz="1600" i="1">
                <a:latin typeface="Arial" charset="0"/>
              </a:endParaRPr>
            </a:p>
          </p:txBody>
        </p:sp>
      </p:grpSp>
      <p:grpSp>
        <p:nvGrpSpPr>
          <p:cNvPr id="19485" name="Group 29"/>
          <p:cNvGrpSpPr>
            <a:grpSpLocks/>
          </p:cNvGrpSpPr>
          <p:nvPr/>
        </p:nvGrpSpPr>
        <p:grpSpPr bwMode="auto">
          <a:xfrm>
            <a:off x="5029200" y="5181600"/>
            <a:ext cx="2054225" cy="1092200"/>
            <a:chOff x="2247" y="3254"/>
            <a:chExt cx="1294" cy="688"/>
          </a:xfrm>
        </p:grpSpPr>
        <p:sp>
          <p:nvSpPr>
            <p:cNvPr id="19486" name="Rectangle 30"/>
            <p:cNvSpPr>
              <a:spLocks noChangeArrowheads="1"/>
            </p:cNvSpPr>
            <p:nvPr/>
          </p:nvSpPr>
          <p:spPr bwMode="auto">
            <a:xfrm>
              <a:off x="2251" y="3254"/>
              <a:ext cx="1266" cy="688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 anchorCtr="1"/>
            <a:lstStyle/>
            <a:p>
              <a:pPr algn="ctr" eaLnBrk="0" hangingPunct="0"/>
              <a:r>
                <a:rPr lang="lt-LT" sz="2000" b="1">
                  <a:latin typeface="Arial" charset="0"/>
                </a:rPr>
                <a:t>SubClass</a:t>
              </a:r>
              <a:r>
                <a:rPr lang="en-US" altLang="zh-CN" sz="2000" b="1">
                  <a:latin typeface="Arial" charset="0"/>
                </a:rPr>
                <a:t>2</a:t>
              </a:r>
              <a:r>
                <a:rPr lang="lt-LT" sz="2000" b="1">
                  <a:latin typeface="Arial" charset="0"/>
                </a:rPr>
                <a:t>.2</a:t>
              </a:r>
            </a:p>
          </p:txBody>
        </p:sp>
        <p:sp>
          <p:nvSpPr>
            <p:cNvPr id="19487" name="Line 31"/>
            <p:cNvSpPr>
              <a:spLocks noChangeShapeType="1"/>
            </p:cNvSpPr>
            <p:nvPr/>
          </p:nvSpPr>
          <p:spPr bwMode="auto">
            <a:xfrm>
              <a:off x="2247" y="3490"/>
              <a:ext cx="127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8" name="Rectangle 32"/>
            <p:cNvSpPr>
              <a:spLocks noChangeArrowheads="1"/>
            </p:cNvSpPr>
            <p:nvPr/>
          </p:nvSpPr>
          <p:spPr bwMode="auto">
            <a:xfrm>
              <a:off x="2264" y="3538"/>
              <a:ext cx="1277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lt-LT" sz="1600" b="1">
                  <a:latin typeface="Arial" charset="0"/>
                </a:rPr>
                <a:t>behaviorY()</a:t>
              </a:r>
              <a:r>
                <a:rPr lang="lt-LT" sz="1600" i="1">
                  <a:latin typeface="Arial" charset="0"/>
                </a:rPr>
                <a:t/>
              </a:r>
              <a:br>
                <a:rPr lang="lt-LT" sz="1600" i="1">
                  <a:latin typeface="Arial" charset="0"/>
                </a:rPr>
              </a:br>
              <a:endParaRPr lang="lt-LT" sz="1600" i="1">
                <a:latin typeface="Arial" charset="0"/>
              </a:endParaRPr>
            </a:p>
          </p:txBody>
        </p:sp>
      </p:grpSp>
      <p:sp>
        <p:nvSpPr>
          <p:cNvPr id="19489" name="AutoShape 33"/>
          <p:cNvSpPr>
            <a:spLocks noChangeArrowheads="1"/>
          </p:cNvSpPr>
          <p:nvPr/>
        </p:nvSpPr>
        <p:spPr bwMode="auto">
          <a:xfrm>
            <a:off x="4419600" y="4572000"/>
            <a:ext cx="355600" cy="279400"/>
          </a:xfrm>
          <a:prstGeom prst="triangle">
            <a:avLst>
              <a:gd name="adj" fmla="val 49995"/>
            </a:avLst>
          </a:prstGeom>
          <a:solidFill>
            <a:schemeClr val="bg2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91" name="Line 35"/>
          <p:cNvSpPr>
            <a:spLocks noChangeShapeType="1"/>
          </p:cNvSpPr>
          <p:nvPr/>
        </p:nvSpPr>
        <p:spPr bwMode="auto">
          <a:xfrm>
            <a:off x="4648200" y="4876800"/>
            <a:ext cx="0" cy="1317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93" name="Line 37"/>
          <p:cNvSpPr>
            <a:spLocks noChangeShapeType="1"/>
          </p:cNvSpPr>
          <p:nvPr/>
        </p:nvSpPr>
        <p:spPr bwMode="auto">
          <a:xfrm>
            <a:off x="3200400" y="5029200"/>
            <a:ext cx="0" cy="1317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94" name="Line 38"/>
          <p:cNvSpPr>
            <a:spLocks noChangeShapeType="1"/>
          </p:cNvSpPr>
          <p:nvPr/>
        </p:nvSpPr>
        <p:spPr bwMode="auto">
          <a:xfrm>
            <a:off x="6019800" y="5029200"/>
            <a:ext cx="0" cy="1317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7735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Strategy makes this easy!</a:t>
            </a:r>
          </a:p>
        </p:txBody>
      </p:sp>
      <p:grpSp>
        <p:nvGrpSpPr>
          <p:cNvPr id="20484" name="Group 4"/>
          <p:cNvGrpSpPr>
            <a:grpSpLocks/>
          </p:cNvGrpSpPr>
          <p:nvPr/>
        </p:nvGrpSpPr>
        <p:grpSpPr bwMode="auto">
          <a:xfrm>
            <a:off x="1524000" y="3124200"/>
            <a:ext cx="2054225" cy="1092200"/>
            <a:chOff x="864" y="2050"/>
            <a:chExt cx="1294" cy="688"/>
          </a:xfrm>
        </p:grpSpPr>
        <p:sp>
          <p:nvSpPr>
            <p:cNvPr id="20485" name="Rectangle 5"/>
            <p:cNvSpPr>
              <a:spLocks noChangeArrowheads="1"/>
            </p:cNvSpPr>
            <p:nvPr/>
          </p:nvSpPr>
          <p:spPr bwMode="auto">
            <a:xfrm>
              <a:off x="868" y="2050"/>
              <a:ext cx="1266" cy="688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 anchorCtr="1"/>
            <a:lstStyle/>
            <a:p>
              <a:pPr algn="ctr" eaLnBrk="0" hangingPunct="0"/>
              <a:r>
                <a:rPr lang="lt-LT" sz="2000" i="1">
                  <a:latin typeface="Arial" charset="0"/>
                </a:rPr>
                <a:t>Class</a:t>
              </a:r>
            </a:p>
          </p:txBody>
        </p:sp>
        <p:sp>
          <p:nvSpPr>
            <p:cNvPr id="20486" name="Line 6"/>
            <p:cNvSpPr>
              <a:spLocks noChangeShapeType="1"/>
            </p:cNvSpPr>
            <p:nvPr/>
          </p:nvSpPr>
          <p:spPr bwMode="auto">
            <a:xfrm>
              <a:off x="864" y="2286"/>
              <a:ext cx="127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7" name="Rectangle 7"/>
            <p:cNvSpPr>
              <a:spLocks noChangeArrowheads="1"/>
            </p:cNvSpPr>
            <p:nvPr/>
          </p:nvSpPr>
          <p:spPr bwMode="auto">
            <a:xfrm>
              <a:off x="881" y="2334"/>
              <a:ext cx="1277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 b="1">
                  <a:latin typeface="Arial" charset="0"/>
                </a:rPr>
                <a:t>function</a:t>
              </a:r>
              <a:r>
                <a:rPr lang="lt-LT" sz="1600" b="1">
                  <a:latin typeface="Arial" charset="0"/>
                </a:rPr>
                <a:t>X()</a:t>
              </a:r>
              <a:br>
                <a:rPr lang="lt-LT" sz="1600" b="1">
                  <a:latin typeface="Arial" charset="0"/>
                </a:rPr>
              </a:br>
              <a:r>
                <a:rPr lang="en-US" altLang="zh-CN" sz="1600" b="1">
                  <a:latin typeface="Arial" charset="0"/>
                </a:rPr>
                <a:t>function</a:t>
              </a:r>
              <a:r>
                <a:rPr lang="lt-LT" sz="1600" b="1">
                  <a:latin typeface="Arial" charset="0"/>
                </a:rPr>
                <a:t>Y()</a:t>
              </a:r>
            </a:p>
          </p:txBody>
        </p:sp>
      </p:grpSp>
      <p:grpSp>
        <p:nvGrpSpPr>
          <p:cNvPr id="20488" name="Group 8"/>
          <p:cNvGrpSpPr>
            <a:grpSpLocks/>
          </p:cNvGrpSpPr>
          <p:nvPr/>
        </p:nvGrpSpPr>
        <p:grpSpPr bwMode="auto">
          <a:xfrm>
            <a:off x="4910138" y="2138363"/>
            <a:ext cx="2935287" cy="1785937"/>
            <a:chOff x="2997" y="1429"/>
            <a:chExt cx="1849" cy="1125"/>
          </a:xfrm>
        </p:grpSpPr>
        <p:sp>
          <p:nvSpPr>
            <p:cNvPr id="20489" name="AutoShape 9"/>
            <p:cNvSpPr>
              <a:spLocks noChangeArrowheads="1"/>
            </p:cNvSpPr>
            <p:nvPr/>
          </p:nvSpPr>
          <p:spPr bwMode="auto">
            <a:xfrm>
              <a:off x="3750" y="1963"/>
              <a:ext cx="224" cy="176"/>
            </a:xfrm>
            <a:prstGeom prst="triangle">
              <a:avLst>
                <a:gd name="adj" fmla="val 49995"/>
              </a:avLst>
            </a:prstGeom>
            <a:solidFill>
              <a:schemeClr val="bg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0" name="Line 10"/>
            <p:cNvSpPr>
              <a:spLocks noChangeShapeType="1"/>
            </p:cNvSpPr>
            <p:nvPr/>
          </p:nvSpPr>
          <p:spPr bwMode="auto">
            <a:xfrm>
              <a:off x="4655" y="2143"/>
              <a:ext cx="0" cy="17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491" name="Group 11"/>
            <p:cNvGrpSpPr>
              <a:grpSpLocks/>
            </p:cNvGrpSpPr>
            <p:nvPr/>
          </p:nvGrpSpPr>
          <p:grpSpPr bwMode="auto">
            <a:xfrm>
              <a:off x="3211" y="1429"/>
              <a:ext cx="1303" cy="515"/>
              <a:chOff x="3211" y="1429"/>
              <a:chExt cx="1303" cy="515"/>
            </a:xfrm>
          </p:grpSpPr>
          <p:sp>
            <p:nvSpPr>
              <p:cNvPr id="20492" name="Rectangle 12"/>
              <p:cNvSpPr>
                <a:spLocks noChangeArrowheads="1"/>
              </p:cNvSpPr>
              <p:nvPr/>
            </p:nvSpPr>
            <p:spPr bwMode="auto">
              <a:xfrm>
                <a:off x="3215" y="1429"/>
                <a:ext cx="1266" cy="515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 anchorCtr="1"/>
              <a:lstStyle/>
              <a:p>
                <a:pPr algn="ctr" eaLnBrk="0" hangingPunct="0"/>
                <a:r>
                  <a:rPr lang="lt-LT" sz="2000" i="1">
                    <a:latin typeface="Arial" charset="0"/>
                  </a:rPr>
                  <a:t>StrategyX</a:t>
                </a:r>
              </a:p>
            </p:txBody>
          </p:sp>
          <p:sp>
            <p:nvSpPr>
              <p:cNvPr id="20493" name="Line 13"/>
              <p:cNvSpPr>
                <a:spLocks noChangeShapeType="1"/>
              </p:cNvSpPr>
              <p:nvPr/>
            </p:nvSpPr>
            <p:spPr bwMode="auto">
              <a:xfrm>
                <a:off x="3211" y="1665"/>
                <a:ext cx="127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494" name="Rectangle 14"/>
              <p:cNvSpPr>
                <a:spLocks noChangeArrowheads="1"/>
              </p:cNvSpPr>
              <p:nvPr/>
            </p:nvSpPr>
            <p:spPr bwMode="auto">
              <a:xfrm>
                <a:off x="3237" y="1723"/>
                <a:ext cx="1277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1600" i="1">
                    <a:latin typeface="Arial" charset="0"/>
                  </a:rPr>
                  <a:t>function</a:t>
                </a:r>
                <a:r>
                  <a:rPr lang="lt-LT" sz="1600" i="1">
                    <a:latin typeface="Arial" charset="0"/>
                  </a:rPr>
                  <a:t>X()</a:t>
                </a:r>
              </a:p>
            </p:txBody>
          </p:sp>
        </p:grpSp>
        <p:sp>
          <p:nvSpPr>
            <p:cNvPr id="20495" name="Line 15"/>
            <p:cNvSpPr>
              <a:spLocks noChangeShapeType="1"/>
            </p:cNvSpPr>
            <p:nvPr/>
          </p:nvSpPr>
          <p:spPr bwMode="auto">
            <a:xfrm>
              <a:off x="2997" y="2150"/>
              <a:ext cx="165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6" name="Rectangle 16"/>
            <p:cNvSpPr>
              <a:spLocks noChangeArrowheads="1"/>
            </p:cNvSpPr>
            <p:nvPr/>
          </p:nvSpPr>
          <p:spPr bwMode="auto">
            <a:xfrm>
              <a:off x="3595" y="1920"/>
              <a:ext cx="1251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lt-LT" sz="6000">
                  <a:latin typeface="Arial" charset="0"/>
                </a:rPr>
                <a:t>...</a:t>
              </a:r>
            </a:p>
          </p:txBody>
        </p:sp>
        <p:sp>
          <p:nvSpPr>
            <p:cNvPr id="20497" name="Line 17"/>
            <p:cNvSpPr>
              <a:spLocks noChangeShapeType="1"/>
            </p:cNvSpPr>
            <p:nvPr/>
          </p:nvSpPr>
          <p:spPr bwMode="auto">
            <a:xfrm>
              <a:off x="3004" y="2139"/>
              <a:ext cx="0" cy="17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498" name="Group 18"/>
          <p:cNvGrpSpPr>
            <a:grpSpLocks/>
          </p:cNvGrpSpPr>
          <p:nvPr/>
        </p:nvGrpSpPr>
        <p:grpSpPr bwMode="auto">
          <a:xfrm>
            <a:off x="4910138" y="4116388"/>
            <a:ext cx="2935287" cy="1785937"/>
            <a:chOff x="2997" y="2675"/>
            <a:chExt cx="1849" cy="1125"/>
          </a:xfrm>
        </p:grpSpPr>
        <p:sp>
          <p:nvSpPr>
            <p:cNvPr id="20499" name="AutoShape 19"/>
            <p:cNvSpPr>
              <a:spLocks noChangeArrowheads="1"/>
            </p:cNvSpPr>
            <p:nvPr/>
          </p:nvSpPr>
          <p:spPr bwMode="auto">
            <a:xfrm>
              <a:off x="3750" y="3209"/>
              <a:ext cx="224" cy="176"/>
            </a:xfrm>
            <a:prstGeom prst="triangle">
              <a:avLst>
                <a:gd name="adj" fmla="val 49995"/>
              </a:avLst>
            </a:prstGeom>
            <a:solidFill>
              <a:schemeClr val="bg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0" name="Line 20"/>
            <p:cNvSpPr>
              <a:spLocks noChangeShapeType="1"/>
            </p:cNvSpPr>
            <p:nvPr/>
          </p:nvSpPr>
          <p:spPr bwMode="auto">
            <a:xfrm>
              <a:off x="4655" y="3389"/>
              <a:ext cx="0" cy="17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501" name="Group 21"/>
            <p:cNvGrpSpPr>
              <a:grpSpLocks/>
            </p:cNvGrpSpPr>
            <p:nvPr/>
          </p:nvGrpSpPr>
          <p:grpSpPr bwMode="auto">
            <a:xfrm>
              <a:off x="3211" y="2675"/>
              <a:ext cx="1303" cy="515"/>
              <a:chOff x="3211" y="2675"/>
              <a:chExt cx="1303" cy="515"/>
            </a:xfrm>
          </p:grpSpPr>
          <p:sp>
            <p:nvSpPr>
              <p:cNvPr id="20502" name="Rectangle 22"/>
              <p:cNvSpPr>
                <a:spLocks noChangeArrowheads="1"/>
              </p:cNvSpPr>
              <p:nvPr/>
            </p:nvSpPr>
            <p:spPr bwMode="auto">
              <a:xfrm>
                <a:off x="3215" y="2675"/>
                <a:ext cx="1266" cy="515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 anchorCtr="1"/>
              <a:lstStyle/>
              <a:p>
                <a:pPr algn="ctr" eaLnBrk="0" hangingPunct="0"/>
                <a:r>
                  <a:rPr lang="lt-LT" sz="2000" i="1">
                    <a:latin typeface="Arial" charset="0"/>
                  </a:rPr>
                  <a:t>StrategyY</a:t>
                </a:r>
              </a:p>
            </p:txBody>
          </p:sp>
          <p:sp>
            <p:nvSpPr>
              <p:cNvPr id="20503" name="Line 23"/>
              <p:cNvSpPr>
                <a:spLocks noChangeShapeType="1"/>
              </p:cNvSpPr>
              <p:nvPr/>
            </p:nvSpPr>
            <p:spPr bwMode="auto">
              <a:xfrm>
                <a:off x="3211" y="2911"/>
                <a:ext cx="127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04" name="Rectangle 24"/>
              <p:cNvSpPr>
                <a:spLocks noChangeArrowheads="1"/>
              </p:cNvSpPr>
              <p:nvPr/>
            </p:nvSpPr>
            <p:spPr bwMode="auto">
              <a:xfrm>
                <a:off x="3237" y="2969"/>
                <a:ext cx="1277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1600" i="1">
                    <a:latin typeface="Arial" charset="0"/>
                  </a:rPr>
                  <a:t>function</a:t>
                </a:r>
                <a:r>
                  <a:rPr lang="lt-LT" sz="1600" i="1">
                    <a:latin typeface="Arial" charset="0"/>
                  </a:rPr>
                  <a:t>Y()</a:t>
                </a:r>
              </a:p>
            </p:txBody>
          </p:sp>
        </p:grpSp>
        <p:sp>
          <p:nvSpPr>
            <p:cNvPr id="20505" name="Line 25"/>
            <p:cNvSpPr>
              <a:spLocks noChangeShapeType="1"/>
            </p:cNvSpPr>
            <p:nvPr/>
          </p:nvSpPr>
          <p:spPr bwMode="auto">
            <a:xfrm>
              <a:off x="2997" y="3396"/>
              <a:ext cx="165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6" name="Rectangle 26"/>
            <p:cNvSpPr>
              <a:spLocks noChangeArrowheads="1"/>
            </p:cNvSpPr>
            <p:nvPr/>
          </p:nvSpPr>
          <p:spPr bwMode="auto">
            <a:xfrm>
              <a:off x="3595" y="3166"/>
              <a:ext cx="1251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lt-LT" sz="6000">
                  <a:latin typeface="Arial" charset="0"/>
                </a:rPr>
                <a:t>...</a:t>
              </a:r>
            </a:p>
          </p:txBody>
        </p:sp>
        <p:sp>
          <p:nvSpPr>
            <p:cNvPr id="20507" name="Line 27"/>
            <p:cNvSpPr>
              <a:spLocks noChangeShapeType="1"/>
            </p:cNvSpPr>
            <p:nvPr/>
          </p:nvSpPr>
          <p:spPr bwMode="auto">
            <a:xfrm>
              <a:off x="3004" y="3385"/>
              <a:ext cx="0" cy="17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508" name="Freeform 28"/>
          <p:cNvSpPr>
            <a:spLocks/>
          </p:cNvSpPr>
          <p:nvPr/>
        </p:nvSpPr>
        <p:spPr bwMode="auto">
          <a:xfrm>
            <a:off x="3557588" y="3211513"/>
            <a:ext cx="344487" cy="230187"/>
          </a:xfrm>
          <a:custGeom>
            <a:avLst/>
            <a:gdLst>
              <a:gd name="T0" fmla="*/ 0 w 217"/>
              <a:gd name="T1" fmla="*/ 72 h 145"/>
              <a:gd name="T2" fmla="*/ 108 w 217"/>
              <a:gd name="T3" fmla="*/ 0 h 145"/>
              <a:gd name="T4" fmla="*/ 216 w 217"/>
              <a:gd name="T5" fmla="*/ 72 h 145"/>
              <a:gd name="T6" fmla="*/ 108 w 217"/>
              <a:gd name="T7" fmla="*/ 144 h 145"/>
              <a:gd name="T8" fmla="*/ 0 w 217"/>
              <a:gd name="T9" fmla="*/ 72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7" h="145">
                <a:moveTo>
                  <a:pt x="0" y="72"/>
                </a:moveTo>
                <a:lnTo>
                  <a:pt x="108" y="0"/>
                </a:lnTo>
                <a:lnTo>
                  <a:pt x="216" y="72"/>
                </a:lnTo>
                <a:lnTo>
                  <a:pt x="108" y="144"/>
                </a:lnTo>
                <a:lnTo>
                  <a:pt x="0" y="72"/>
                </a:lnTo>
              </a:path>
            </a:pathLst>
          </a:custGeom>
          <a:solidFill>
            <a:schemeClr val="bg2"/>
          </a:solidFill>
          <a:ln w="25400" cap="rnd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09" name="Line 29"/>
          <p:cNvSpPr>
            <a:spLocks noChangeShapeType="1"/>
          </p:cNvSpPr>
          <p:nvPr/>
        </p:nvSpPr>
        <p:spPr bwMode="auto">
          <a:xfrm>
            <a:off x="4243388" y="2292350"/>
            <a:ext cx="990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10" name="Freeform 30"/>
          <p:cNvSpPr>
            <a:spLocks/>
          </p:cNvSpPr>
          <p:nvPr/>
        </p:nvSpPr>
        <p:spPr bwMode="auto">
          <a:xfrm>
            <a:off x="3578225" y="3844925"/>
            <a:ext cx="344488" cy="230188"/>
          </a:xfrm>
          <a:custGeom>
            <a:avLst/>
            <a:gdLst>
              <a:gd name="T0" fmla="*/ 0 w 217"/>
              <a:gd name="T1" fmla="*/ 72 h 145"/>
              <a:gd name="T2" fmla="*/ 108 w 217"/>
              <a:gd name="T3" fmla="*/ 0 h 145"/>
              <a:gd name="T4" fmla="*/ 216 w 217"/>
              <a:gd name="T5" fmla="*/ 72 h 145"/>
              <a:gd name="T6" fmla="*/ 108 w 217"/>
              <a:gd name="T7" fmla="*/ 144 h 145"/>
              <a:gd name="T8" fmla="*/ 0 w 217"/>
              <a:gd name="T9" fmla="*/ 72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7" h="145">
                <a:moveTo>
                  <a:pt x="0" y="72"/>
                </a:moveTo>
                <a:lnTo>
                  <a:pt x="108" y="0"/>
                </a:lnTo>
                <a:lnTo>
                  <a:pt x="216" y="72"/>
                </a:lnTo>
                <a:lnTo>
                  <a:pt x="108" y="144"/>
                </a:lnTo>
                <a:lnTo>
                  <a:pt x="0" y="72"/>
                </a:lnTo>
              </a:path>
            </a:pathLst>
          </a:custGeom>
          <a:solidFill>
            <a:schemeClr val="bg2"/>
          </a:solidFill>
          <a:ln w="25400" cap="rnd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11" name="Line 31"/>
          <p:cNvSpPr>
            <a:spLocks noChangeShapeType="1"/>
          </p:cNvSpPr>
          <p:nvPr/>
        </p:nvSpPr>
        <p:spPr bwMode="auto">
          <a:xfrm>
            <a:off x="4279900" y="4268788"/>
            <a:ext cx="990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12" name="Line 32"/>
          <p:cNvSpPr>
            <a:spLocks noChangeShapeType="1"/>
          </p:cNvSpPr>
          <p:nvPr/>
        </p:nvSpPr>
        <p:spPr bwMode="auto">
          <a:xfrm>
            <a:off x="4243388" y="2292350"/>
            <a:ext cx="0" cy="10366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13" name="Line 33"/>
          <p:cNvSpPr>
            <a:spLocks noChangeShapeType="1"/>
          </p:cNvSpPr>
          <p:nvPr/>
        </p:nvSpPr>
        <p:spPr bwMode="auto">
          <a:xfrm>
            <a:off x="3878263" y="3328988"/>
            <a:ext cx="3651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14" name="Line 34"/>
          <p:cNvSpPr>
            <a:spLocks noChangeShapeType="1"/>
          </p:cNvSpPr>
          <p:nvPr/>
        </p:nvSpPr>
        <p:spPr bwMode="auto">
          <a:xfrm>
            <a:off x="3929063" y="3976688"/>
            <a:ext cx="3651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15" name="Line 35"/>
          <p:cNvSpPr>
            <a:spLocks noChangeShapeType="1"/>
          </p:cNvSpPr>
          <p:nvPr/>
        </p:nvSpPr>
        <p:spPr bwMode="auto">
          <a:xfrm>
            <a:off x="4300538" y="3970338"/>
            <a:ext cx="0" cy="2921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0325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4800"/>
            <a:ext cx="9144000" cy="6225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007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b="1" dirty="0"/>
              <a:t>Check </a:t>
            </a:r>
            <a:r>
              <a:rPr lang="en-CA" b="1" dirty="0" smtClean="0"/>
              <a:t>list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CA" dirty="0" smtClean="0"/>
              <a:t>Identify </a:t>
            </a:r>
            <a:r>
              <a:rPr lang="en-CA" dirty="0"/>
              <a:t>an algorithm (i.e. a behavior) that the client would prefer to </a:t>
            </a:r>
            <a:r>
              <a:rPr lang="en-CA" dirty="0" smtClean="0"/>
              <a:t>access.</a:t>
            </a:r>
          </a:p>
          <a:p>
            <a:r>
              <a:rPr lang="en-CA" dirty="0" smtClean="0"/>
              <a:t>Specify </a:t>
            </a:r>
            <a:r>
              <a:rPr lang="en-CA" dirty="0"/>
              <a:t>the signature for that algorithm in an interface.</a:t>
            </a:r>
          </a:p>
          <a:p>
            <a:r>
              <a:rPr lang="en-CA" dirty="0"/>
              <a:t>Bury the alternative implementation details in derived classes.</a:t>
            </a:r>
          </a:p>
          <a:p>
            <a:r>
              <a:rPr lang="en-CA" dirty="0"/>
              <a:t>Clients of the algorithm couple themselves to the interface.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76707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Basic Structure</a:t>
            </a:r>
            <a:endParaRPr lang="en-CA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938" y="1527175"/>
            <a:ext cx="7433611" cy="4572000"/>
          </a:xfrm>
        </p:spPr>
      </p:pic>
    </p:spTree>
    <p:extLst>
      <p:ext uri="{BB962C8B-B14F-4D97-AF65-F5344CB8AC3E}">
        <p14:creationId xmlns:p14="http://schemas.microsoft.com/office/powerpoint/2010/main" val="2878846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CA" altLang="zh-CN" dirty="0" smtClean="0"/>
              <a:t>Advantage and Disadvantages</a:t>
            </a:r>
            <a:endParaRPr kumimoji="1"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4064958888"/>
              </p:ext>
            </p:extLst>
          </p:nvPr>
        </p:nvGraphicFramePr>
        <p:xfrm>
          <a:off x="457200" y="1751682"/>
          <a:ext cx="8229600" cy="47804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2766"/>
                <a:gridCol w="4136834"/>
              </a:tblGrid>
              <a:tr h="1031420">
                <a:tc>
                  <a:txBody>
                    <a:bodyPr/>
                    <a:lstStyle/>
                    <a:p>
                      <a:pPr algn="ctr"/>
                      <a:r>
                        <a:rPr lang="en-CA" altLang="zh-CN" dirty="0" smtClean="0"/>
                        <a:t>PROs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altLang="zh-CN" dirty="0" smtClean="0"/>
                        <a:t>Cons</a:t>
                      </a:r>
                      <a:endParaRPr lang="zh-CN" altLang="en-US" dirty="0"/>
                    </a:p>
                  </a:txBody>
                  <a:tcPr/>
                </a:tc>
              </a:tr>
              <a:tr h="630673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Eliminates conditional statements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Clients must be aware of different strategies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</a:tr>
              <a:tr h="630673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Choice of implementation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Increased number of objects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</a:tr>
              <a:tr h="63067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Families of related algorithms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63067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Alternative to </a:t>
                      </a:r>
                      <a:r>
                        <a:rPr lang="en-US" altLang="zh-CN" dirty="0" err="1" smtClean="0"/>
                        <a:t>subclassing</a:t>
                      </a:r>
                      <a:r>
                        <a:rPr lang="en-US" altLang="zh-CN" dirty="0" smtClean="0"/>
                        <a:t> – keep class changes from forcing other class changes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630673">
                <a:tc>
                  <a:txBody>
                    <a:bodyPr/>
                    <a:lstStyle/>
                    <a:p>
                      <a:r>
                        <a:rPr lang="en-CA" altLang="zh-CN" dirty="0" smtClean="0"/>
                        <a:t>Can hide complex/secret code from user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70085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514350" lvl="0" indent="-514350">
              <a:spcBef>
                <a:spcPts val="0"/>
              </a:spcBef>
              <a:buFont typeface="+mj-lt"/>
              <a:buAutoNum type="arabicPeriod"/>
            </a:pPr>
            <a:r>
              <a:rPr lang="en-US" sz="2800" dirty="0" smtClean="0"/>
              <a:t>Eric Freeman, Bert Bates, Kathy Sierra, Elisabeth Robson,  “ Chapter  12: Patterns of Patterns” in Head First Design Pattern, 2</a:t>
            </a:r>
            <a:r>
              <a:rPr lang="en-US" sz="2800" baseline="30000" dirty="0" smtClean="0"/>
              <a:t>nd</a:t>
            </a:r>
            <a:r>
              <a:rPr lang="en-US" sz="2800" dirty="0" smtClean="0"/>
              <a:t>  ed.  The U.S.: </a:t>
            </a:r>
            <a:r>
              <a:rPr lang="en-GB" sz="2800" dirty="0"/>
              <a:t>O'Reilly </a:t>
            </a:r>
            <a:r>
              <a:rPr lang="en-GB" sz="2800" dirty="0" smtClean="0"/>
              <a:t>Media.  Feb 9, 2005.</a:t>
            </a:r>
          </a:p>
          <a:p>
            <a:pPr marL="514350" lvl="0" indent="-514350">
              <a:spcBef>
                <a:spcPts val="0"/>
              </a:spcBef>
              <a:buFont typeface="+mj-lt"/>
              <a:buAutoNum type="arabicPeriod"/>
            </a:pPr>
            <a:r>
              <a:rPr lang="en-US" sz="2800" dirty="0" smtClean="0"/>
              <a:t>Strategy pattern. Retrieved </a:t>
            </a:r>
            <a:r>
              <a:rPr lang="en-US" sz="2800" dirty="0" smtClean="0"/>
              <a:t>from </a:t>
            </a:r>
            <a:r>
              <a:rPr lang="en-US" sz="2800" u="sng" dirty="0" smtClean="0">
                <a:solidFill>
                  <a:srgbClr val="0000FF"/>
                </a:solidFill>
                <a:hlinkClick r:id="rId3"/>
              </a:rPr>
              <a:t>http</a:t>
            </a:r>
            <a:r>
              <a:rPr lang="en-US" sz="2800" u="sng" dirty="0">
                <a:solidFill>
                  <a:srgbClr val="0000FF"/>
                </a:solidFill>
                <a:hlinkClick r:id="rId3"/>
              </a:rPr>
              <a:t>://www.tutorialspoint.com/design_pattern/</a:t>
            </a:r>
            <a:r>
              <a:rPr lang="en-US" sz="2800" u="sng" dirty="0" smtClean="0">
                <a:solidFill>
                  <a:srgbClr val="0000FF"/>
                </a:solidFill>
                <a:hlinkClick r:id="rId3"/>
              </a:rPr>
              <a:t>strategy_pattern.htm</a:t>
            </a:r>
            <a:endParaRPr lang="en-US" sz="2800" u="sng" dirty="0" smtClean="0">
              <a:solidFill>
                <a:srgbClr val="0000FF"/>
              </a:solidFill>
            </a:endParaRPr>
          </a:p>
          <a:p>
            <a:pPr marL="514350" lvl="0" indent="-514350">
              <a:spcBef>
                <a:spcPts val="0"/>
              </a:spcBef>
              <a:buFont typeface="+mj-lt"/>
              <a:buAutoNum type="arabicPeriod"/>
            </a:pPr>
            <a:r>
              <a:rPr lang="en-US" altLang="zh-CN" sz="2800" dirty="0" smtClean="0"/>
              <a:t>Strategy </a:t>
            </a:r>
            <a:r>
              <a:rPr lang="en-US" sz="2800" dirty="0" smtClean="0"/>
              <a:t>pattern. </a:t>
            </a:r>
            <a:r>
              <a:rPr lang="en-US" sz="2800" dirty="0"/>
              <a:t>Retrieved </a:t>
            </a:r>
            <a:r>
              <a:rPr lang="en-US" sz="2800" dirty="0" smtClean="0"/>
              <a:t>from </a:t>
            </a:r>
            <a:r>
              <a:rPr lang="en-GB" sz="2800" u="sng" dirty="0" smtClean="0">
                <a:solidFill>
                  <a:srgbClr val="0000FF"/>
                </a:solidFill>
              </a:rPr>
              <a:t>https</a:t>
            </a:r>
            <a:r>
              <a:rPr lang="en-GB" sz="2800" u="sng" dirty="0">
                <a:solidFill>
                  <a:srgbClr val="0000FF"/>
                </a:solidFill>
              </a:rPr>
              <a:t>://</a:t>
            </a:r>
            <a:r>
              <a:rPr lang="en-GB" sz="2800" u="sng" dirty="0" err="1">
                <a:solidFill>
                  <a:srgbClr val="0000FF"/>
                </a:solidFill>
              </a:rPr>
              <a:t>sourcemaking.com</a:t>
            </a:r>
            <a:r>
              <a:rPr lang="en-GB" sz="2800" u="sng" dirty="0">
                <a:solidFill>
                  <a:srgbClr val="0000FF"/>
                </a:solidFill>
              </a:rPr>
              <a:t>/</a:t>
            </a:r>
            <a:r>
              <a:rPr lang="en-GB" sz="2800" u="sng" dirty="0" err="1">
                <a:solidFill>
                  <a:srgbClr val="0000FF"/>
                </a:solidFill>
              </a:rPr>
              <a:t>design_patterns</a:t>
            </a:r>
            <a:r>
              <a:rPr lang="en-GB" sz="2800" u="sng" dirty="0">
                <a:solidFill>
                  <a:srgbClr val="0000FF"/>
                </a:solidFill>
              </a:rPr>
              <a:t>/strategy</a:t>
            </a:r>
            <a:endParaRPr lang="en-US" sz="1000" u="sng" dirty="0" smtClean="0">
              <a:solidFill>
                <a:srgbClr val="0000FF"/>
              </a:solidFill>
            </a:endParaRPr>
          </a:p>
        </p:txBody>
      </p:sp>
      <p:sp>
        <p:nvSpPr>
          <p:cNvPr id="157" name="Shape 15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sz="4400" dirty="0"/>
              <a:t>Reference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6672072" y="6275846"/>
            <a:ext cx="2133600" cy="365100"/>
          </a:xfrm>
        </p:spPr>
        <p:txBody>
          <a:bodyPr/>
          <a:lstStyle/>
          <a:p>
            <a:pPr>
              <a:defRPr/>
            </a:pPr>
            <a:r>
              <a:rPr lang="en-US" altLang="en-US" dirty="0" smtClean="0"/>
              <a:t>Page </a:t>
            </a:r>
            <a:r>
              <a:rPr lang="en-US" altLang="en-US" b="1" dirty="0" smtClean="0"/>
              <a:t>10</a:t>
            </a:r>
            <a:endParaRPr lang="en-US" altLang="en-US" b="1" dirty="0"/>
          </a:p>
        </p:txBody>
      </p:sp>
      <p:sp>
        <p:nvSpPr>
          <p:cNvPr id="5" name="Shape 96"/>
          <p:cNvSpPr txBox="1"/>
          <p:nvPr/>
        </p:nvSpPr>
        <p:spPr>
          <a:xfrm>
            <a:off x="251520" y="6453336"/>
            <a:ext cx="8229600" cy="33688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spcBef>
                <a:spcPts val="0"/>
              </a:spcBef>
              <a:buNone/>
            </a:pPr>
            <a:r>
              <a:rPr lang="en-US" dirty="0">
                <a:solidFill>
                  <a:srgbClr val="002060"/>
                </a:solidFill>
              </a:rPr>
              <a:t>Definition </a:t>
            </a:r>
            <a:r>
              <a:rPr lang="en-US" dirty="0" smtClean="0">
                <a:solidFill>
                  <a:srgbClr val="002060"/>
                </a:solidFill>
              </a:rPr>
              <a:t>  </a:t>
            </a: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  <a:r>
              <a:rPr lang="en-US" dirty="0" smtClean="0">
                <a:solidFill>
                  <a:srgbClr val="002060"/>
                </a:solidFill>
              </a:rPr>
              <a:t>      Example          Conclusion         Questions       </a:t>
            </a:r>
            <a:r>
              <a:rPr lang="en-US" dirty="0" smtClean="0">
                <a:solidFill>
                  <a:srgbClr val="FF0000"/>
                </a:solidFill>
              </a:rPr>
              <a:t>Reference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Chevron 5"/>
          <p:cNvSpPr/>
          <p:nvPr/>
        </p:nvSpPr>
        <p:spPr>
          <a:xfrm>
            <a:off x="1222878" y="6549885"/>
            <a:ext cx="180020" cy="20309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" name="Chevron 6"/>
          <p:cNvSpPr/>
          <p:nvPr/>
        </p:nvSpPr>
        <p:spPr>
          <a:xfrm>
            <a:off x="2411760" y="6549885"/>
            <a:ext cx="180020" cy="20309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Chevron 7"/>
          <p:cNvSpPr/>
          <p:nvPr/>
        </p:nvSpPr>
        <p:spPr>
          <a:xfrm>
            <a:off x="3729504" y="6567663"/>
            <a:ext cx="180020" cy="20309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Chevron 8"/>
          <p:cNvSpPr/>
          <p:nvPr/>
        </p:nvSpPr>
        <p:spPr>
          <a:xfrm>
            <a:off x="4932040" y="6549885"/>
            <a:ext cx="180020" cy="20309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1621416"/>
      </p:ext>
    </p:extLst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951</TotalTime>
  <Words>621</Words>
  <Application>Microsoft Macintosh PowerPoint</Application>
  <PresentationFormat>全屏显示(4:3)</PresentationFormat>
  <Paragraphs>117</Paragraphs>
  <Slides>13</Slides>
  <Notes>12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4" baseType="lpstr">
      <vt:lpstr>Civic</vt:lpstr>
      <vt:lpstr>Strategy Design Pattern</vt:lpstr>
      <vt:lpstr>Outline</vt:lpstr>
      <vt:lpstr>What is Strategy Pattern ? </vt:lpstr>
      <vt:lpstr>When to apply it</vt:lpstr>
      <vt:lpstr>Real life example</vt:lpstr>
      <vt:lpstr>Subclassing</vt:lpstr>
      <vt:lpstr>Add a function</vt:lpstr>
      <vt:lpstr>Strategy makes this easy!</vt:lpstr>
      <vt:lpstr>PowerPoint 演示文稿</vt:lpstr>
      <vt:lpstr>Check list</vt:lpstr>
      <vt:lpstr>Basic Structure</vt:lpstr>
      <vt:lpstr>Advantage and Disadvantages</vt:lpstr>
      <vt:lpstr>Reference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Strategy Design Pattern</dc:title>
  <dc:creator>Sibo Li</dc:creator>
  <cp:lastModifiedBy>Sibo Li</cp:lastModifiedBy>
  <cp:revision>11</cp:revision>
  <cp:lastPrinted>2016-06-06T11:28:12Z</cp:lastPrinted>
  <dcterms:created xsi:type="dcterms:W3CDTF">2016-06-01T10:16:21Z</dcterms:created>
  <dcterms:modified xsi:type="dcterms:W3CDTF">2016-06-06T13:56:34Z</dcterms:modified>
</cp:coreProperties>
</file>